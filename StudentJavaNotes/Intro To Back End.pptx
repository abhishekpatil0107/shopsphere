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5" r:id="rId1"/>
  </p:sldMasterIdLst>
  <p:sldIdLst>
    <p:sldId id="256" r:id="rId2"/>
    <p:sldId id="295" r:id="rId3"/>
    <p:sldId id="257" r:id="rId4"/>
    <p:sldId id="258" r:id="rId5"/>
    <p:sldId id="296" r:id="rId6"/>
    <p:sldId id="259" r:id="rId7"/>
    <p:sldId id="261" r:id="rId8"/>
    <p:sldId id="260" r:id="rId9"/>
    <p:sldId id="262" r:id="rId10"/>
    <p:sldId id="263" r:id="rId11"/>
    <p:sldId id="264" r:id="rId12"/>
    <p:sldId id="265" r:id="rId13"/>
    <p:sldId id="266" r:id="rId14"/>
    <p:sldId id="267" r:id="rId15"/>
    <p:sldId id="268" r:id="rId16"/>
    <p:sldId id="269" r:id="rId17"/>
    <p:sldId id="270" r:id="rId18"/>
    <p:sldId id="271" r:id="rId19"/>
    <p:sldId id="297" r:id="rId20"/>
    <p:sldId id="304" r:id="rId21"/>
    <p:sldId id="305" r:id="rId22"/>
    <p:sldId id="306" r:id="rId23"/>
    <p:sldId id="293" r:id="rId24"/>
    <p:sldId id="272" r:id="rId25"/>
    <p:sldId id="273" r:id="rId26"/>
    <p:sldId id="302" r:id="rId27"/>
    <p:sldId id="303" r:id="rId28"/>
    <p:sldId id="298" r:id="rId29"/>
    <p:sldId id="299" r:id="rId30"/>
    <p:sldId id="274" r:id="rId31"/>
    <p:sldId id="275" r:id="rId32"/>
    <p:sldId id="276" r:id="rId33"/>
    <p:sldId id="277" r:id="rId34"/>
    <p:sldId id="278" r:id="rId35"/>
    <p:sldId id="279" r:id="rId36"/>
    <p:sldId id="280" r:id="rId37"/>
    <p:sldId id="281" r:id="rId38"/>
    <p:sldId id="282" r:id="rId39"/>
    <p:sldId id="284" r:id="rId40"/>
    <p:sldId id="283" r:id="rId41"/>
    <p:sldId id="285" r:id="rId42"/>
    <p:sldId id="286" r:id="rId43"/>
    <p:sldId id="287" r:id="rId44"/>
    <p:sldId id="288" r:id="rId45"/>
    <p:sldId id="289" r:id="rId46"/>
    <p:sldId id="290" r:id="rId47"/>
    <p:sldId id="291" r:id="rId48"/>
    <p:sldId id="29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681" autoAdjust="0"/>
    <p:restoredTop sz="94049" autoAdjust="0"/>
  </p:normalViewPr>
  <p:slideViewPr>
    <p:cSldViewPr snapToGrid="0">
      <p:cViewPr>
        <p:scale>
          <a:sx n="83" d="100"/>
          <a:sy n="83" d="100"/>
        </p:scale>
        <p:origin x="-576" y="-52"/>
      </p:cViewPr>
      <p:guideLst>
        <p:guide orient="horz" pos="2160"/>
        <p:guide pos="3840"/>
      </p:guideLst>
    </p:cSldViewPr>
  </p:slideViewPr>
  <p:notesTextViewPr>
    <p:cViewPr>
      <p:scale>
        <a:sx n="1" d="1"/>
        <a:sy n="1" d="1"/>
      </p:scale>
      <p:origin x="0" y="0"/>
    </p:cViewPr>
  </p:notesTextViewPr>
  <p:sorterViewPr>
    <p:cViewPr>
      <p:scale>
        <a:sx n="100" d="100"/>
        <a:sy n="100" d="100"/>
      </p:scale>
      <p:origin x="0" y="-151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93191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62791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2059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86317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7D4976-E339-4826-83B7-FBD03F55ECF8}" type="datetimeFigureOut">
              <a:rPr lang="en-US" smtClean="0"/>
              <a:t>11/5/2024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108319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11/5/2024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944264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11/5/2024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20583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84547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49379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9214020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0885299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35745427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982959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57525706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5238363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316486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160EA64-D806-43AC-9DF2-F8C432F32B4C}" type="datetimeFigureOut">
              <a:rPr lang="en-US" smtClean="0"/>
              <a:t>11/5/2024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097241652"/>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87817" y="2404534"/>
            <a:ext cx="7766936" cy="1646302"/>
          </a:xfrm>
        </p:spPr>
        <p:txBody>
          <a:bodyPr/>
          <a:lstStyle/>
          <a:p>
            <a:r>
              <a:rPr lang="en-IN" sz="4800" dirty="0" smtClean="0"/>
              <a:t>BACK </a:t>
            </a:r>
            <a:r>
              <a:rPr lang="en-IN" sz="4800" dirty="0"/>
              <a:t>END DEVELOPMENT</a:t>
            </a:r>
          </a:p>
        </p:txBody>
      </p:sp>
    </p:spTree>
    <p:extLst>
      <p:ext uri="{BB962C8B-B14F-4D97-AF65-F5344CB8AC3E}">
        <p14:creationId xmlns:p14="http://schemas.microsoft.com/office/powerpoint/2010/main" val="39148225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HISTORY OF JAVA</a:t>
            </a:r>
            <a:endParaRPr lang="en-IN" dirty="0"/>
          </a:p>
        </p:txBody>
      </p:sp>
      <p:sp>
        <p:nvSpPr>
          <p:cNvPr id="3" name="Content Placeholder 2"/>
          <p:cNvSpPr>
            <a:spLocks noGrp="1"/>
          </p:cNvSpPr>
          <p:nvPr>
            <p:ph idx="1"/>
          </p:nvPr>
        </p:nvSpPr>
        <p:spPr>
          <a:xfrm>
            <a:off x="794779" y="1598526"/>
            <a:ext cx="8596668" cy="3880773"/>
          </a:xfrm>
        </p:spPr>
        <p:txBody>
          <a:bodyPr>
            <a:normAutofit/>
          </a:bodyPr>
          <a:lstStyle/>
          <a:p>
            <a:r>
              <a:rPr lang="en-US" sz="2400" dirty="0" smtClean="0"/>
              <a:t>Java is intended by sun microsystem. Chief Programmer of Sun microsystem James Goslin &amp; his team developed java language in 1995. They want to developed application which they want to use in different electronic devices.so they started that application using c++ But latter on they find out c++ is not suitable language for the app.so they developed their own language which is known as Oak language &amp; later on which is known as java language because Oak was already register company so devloper change that name from Oak to Java.. </a:t>
            </a:r>
            <a:endParaRPr lang="en-IN" sz="2400" dirty="0"/>
          </a:p>
        </p:txBody>
      </p:sp>
    </p:spTree>
    <p:extLst>
      <p:ext uri="{BB962C8B-B14F-4D97-AF65-F5344CB8AC3E}">
        <p14:creationId xmlns:p14="http://schemas.microsoft.com/office/powerpoint/2010/main" val="1851699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BACK END DEVELOPMENT?</a:t>
            </a:r>
          </a:p>
        </p:txBody>
      </p:sp>
      <p:sp>
        <p:nvSpPr>
          <p:cNvPr id="3" name="Content Placeholder 2"/>
          <p:cNvSpPr>
            <a:spLocks noGrp="1"/>
          </p:cNvSpPr>
          <p:nvPr>
            <p:ph idx="1"/>
          </p:nvPr>
        </p:nvSpPr>
        <p:spPr/>
        <p:txBody>
          <a:bodyPr/>
          <a:lstStyle/>
          <a:p>
            <a:r>
              <a:rPr lang="en-IN" dirty="0"/>
              <a:t>Programming:</a:t>
            </a:r>
          </a:p>
          <a:p>
            <a:pPr marL="0" indent="0">
              <a:buNone/>
            </a:pPr>
            <a:r>
              <a:rPr lang="en-IN" dirty="0"/>
              <a:t>	Logic: Java, Python</a:t>
            </a:r>
          </a:p>
          <a:p>
            <a:r>
              <a:rPr lang="en-IN" dirty="0"/>
              <a:t>Database</a:t>
            </a:r>
          </a:p>
          <a:p>
            <a:pPr marL="0" indent="0">
              <a:buNone/>
            </a:pPr>
            <a:r>
              <a:rPr lang="en-IN" dirty="0"/>
              <a:t>	Storage: SQL, My SQL, Oracle</a:t>
            </a:r>
          </a:p>
          <a:p>
            <a:endParaRPr lang="en-IN" dirty="0"/>
          </a:p>
        </p:txBody>
      </p:sp>
    </p:spTree>
    <p:extLst>
      <p:ext uri="{BB962C8B-B14F-4D97-AF65-F5344CB8AC3E}">
        <p14:creationId xmlns:p14="http://schemas.microsoft.com/office/powerpoint/2010/main" val="2022159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JAVA</a:t>
            </a:r>
            <a:r>
              <a:rPr lang="en-IN" dirty="0"/>
              <a:t>?</a:t>
            </a:r>
          </a:p>
        </p:txBody>
      </p:sp>
      <p:sp>
        <p:nvSpPr>
          <p:cNvPr id="3" name="Content Placeholder 2"/>
          <p:cNvSpPr>
            <a:spLocks noGrp="1"/>
          </p:cNvSpPr>
          <p:nvPr>
            <p:ph idx="1"/>
          </p:nvPr>
        </p:nvSpPr>
        <p:spPr>
          <a:xfrm>
            <a:off x="1229595" y="2160589"/>
            <a:ext cx="8596668" cy="3880773"/>
          </a:xfrm>
        </p:spPr>
        <p:txBody>
          <a:bodyPr/>
          <a:lstStyle/>
          <a:p>
            <a:r>
              <a:rPr lang="en-US" dirty="0" smtClean="0"/>
              <a:t>Java is Simple ,Object  Oriented , Distributed ,Interpreted &amp; Compile, Robust, Secure, Portable, Multithreaded &amp; Dynamic Language.</a:t>
            </a:r>
          </a:p>
          <a:p>
            <a:pPr>
              <a:buFont typeface="+mj-lt"/>
              <a:buAutoNum type="arabicPeriod"/>
            </a:pPr>
            <a:r>
              <a:rPr lang="en-US" dirty="0" smtClean="0">
                <a:solidFill>
                  <a:schemeClr val="accent1">
                    <a:lumMod val="60000"/>
                    <a:lumOff val="40000"/>
                  </a:schemeClr>
                </a:solidFill>
              </a:rPr>
              <a:t>Why Java Is Simple Language:</a:t>
            </a:r>
          </a:p>
          <a:p>
            <a:pPr marL="0" indent="0">
              <a:buNone/>
            </a:pPr>
            <a:r>
              <a:rPr lang="en-US" dirty="0" smtClean="0">
                <a:solidFill>
                  <a:schemeClr val="tx1"/>
                </a:solidFill>
              </a:rPr>
              <a:t>Because Syntax Of Java Is Similar To C Language &amp; Object Oriented Concept Are Similar to C++.But Some </a:t>
            </a:r>
            <a:r>
              <a:rPr lang="en-US" dirty="0">
                <a:solidFill>
                  <a:schemeClr val="tx1"/>
                </a:solidFill>
              </a:rPr>
              <a:t>c</a:t>
            </a:r>
            <a:r>
              <a:rPr lang="en-US" dirty="0" smtClean="0">
                <a:solidFill>
                  <a:schemeClr val="tx1"/>
                </a:solidFill>
              </a:rPr>
              <a:t>omplicated concept </a:t>
            </a:r>
            <a:r>
              <a:rPr lang="en-US" dirty="0">
                <a:solidFill>
                  <a:schemeClr val="tx1"/>
                </a:solidFill>
              </a:rPr>
              <a:t>a</a:t>
            </a:r>
            <a:r>
              <a:rPr lang="en-US" dirty="0" smtClean="0">
                <a:solidFill>
                  <a:schemeClr val="tx1"/>
                </a:solidFill>
              </a:rPr>
              <a:t>re not present in CPP like there is no pointer, structure, union &amp; go-to keyword. Java doesn’t support multiple and hybrid inheritance, operator overloading , friend function. when we allocate memory dynamically in c &amp; cpp , In java we have to compulsory deallocate that memory in java. Memory allocation always take place dynamically. But no need to deallocate that memory in java  because memory get’s deal located by JVM</a:t>
            </a:r>
          </a:p>
          <a:p>
            <a:pPr marL="0" indent="0">
              <a:buNone/>
            </a:pPr>
            <a:r>
              <a:rPr lang="en-US" dirty="0">
                <a:solidFill>
                  <a:schemeClr val="accent1">
                    <a:lumMod val="60000"/>
                    <a:lumOff val="40000"/>
                  </a:schemeClr>
                </a:solidFill>
              </a:rPr>
              <a:t> </a:t>
            </a:r>
            <a:r>
              <a:rPr lang="en-US" dirty="0" smtClean="0">
                <a:solidFill>
                  <a:schemeClr val="accent1">
                    <a:lumMod val="60000"/>
                    <a:lumOff val="40000"/>
                  </a:schemeClr>
                </a:solidFill>
              </a:rPr>
              <a:t>    </a:t>
            </a:r>
            <a:endParaRPr lang="en-IN" dirty="0">
              <a:solidFill>
                <a:schemeClr val="accent1">
                  <a:lumMod val="60000"/>
                  <a:lumOff val="40000"/>
                </a:schemeClr>
              </a:solidFill>
            </a:endParaRPr>
          </a:p>
        </p:txBody>
      </p:sp>
    </p:spTree>
    <p:extLst>
      <p:ext uri="{BB962C8B-B14F-4D97-AF65-F5344CB8AC3E}">
        <p14:creationId xmlns:p14="http://schemas.microsoft.com/office/powerpoint/2010/main" val="36267380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t>JAVA IS OOP LANGUAGE</a:t>
            </a:r>
            <a:endParaRPr lang="en-IN" sz="3200" dirty="0"/>
          </a:p>
        </p:txBody>
      </p:sp>
      <p:sp>
        <p:nvSpPr>
          <p:cNvPr id="3" name="Content Placeholder 2"/>
          <p:cNvSpPr>
            <a:spLocks noGrp="1"/>
          </p:cNvSpPr>
          <p:nvPr>
            <p:ph idx="1"/>
          </p:nvPr>
        </p:nvSpPr>
        <p:spPr>
          <a:xfrm>
            <a:off x="822189" y="1376126"/>
            <a:ext cx="8596668" cy="5051835"/>
          </a:xfrm>
        </p:spPr>
        <p:txBody>
          <a:bodyPr>
            <a:normAutofit fontScale="92500" lnSpcReduction="10000"/>
          </a:bodyPr>
          <a:lstStyle/>
          <a:p>
            <a:r>
              <a:rPr lang="en-US" sz="1900" dirty="0" smtClean="0">
                <a:solidFill>
                  <a:schemeClr val="accent1">
                    <a:lumMod val="60000"/>
                    <a:lumOff val="40000"/>
                  </a:schemeClr>
                </a:solidFill>
              </a:rPr>
              <a:t>Abstraction</a:t>
            </a:r>
            <a:r>
              <a:rPr lang="en-US" sz="1900" dirty="0" smtClean="0">
                <a:solidFill>
                  <a:schemeClr val="accent1">
                    <a:lumMod val="60000"/>
                    <a:lumOff val="40000"/>
                  </a:schemeClr>
                </a:solidFill>
                <a:sym typeface="Wingdings" panose="05000000000000000000" pitchFamily="2" charset="2"/>
              </a:rPr>
              <a:t>(Data Hiding):-</a:t>
            </a:r>
          </a:p>
          <a:p>
            <a:pPr marL="0" indent="0">
              <a:buNone/>
            </a:pPr>
            <a:r>
              <a:rPr lang="en-US" sz="1900" dirty="0" smtClean="0">
                <a:solidFill>
                  <a:schemeClr val="tx1"/>
                </a:solidFill>
                <a:sym typeface="Wingdings" panose="05000000000000000000" pitchFamily="2" charset="2"/>
              </a:rPr>
              <a:t>Hide the essential things of system which are unessential for other. Or we can say Abstraction means hide the certain details from user and showing rest.</a:t>
            </a:r>
          </a:p>
          <a:p>
            <a:r>
              <a:rPr lang="en-US" sz="1900" dirty="0" smtClean="0">
                <a:solidFill>
                  <a:schemeClr val="accent1">
                    <a:lumMod val="60000"/>
                    <a:lumOff val="40000"/>
                  </a:schemeClr>
                </a:solidFill>
                <a:sym typeface="Wingdings" panose="05000000000000000000" pitchFamily="2" charset="2"/>
              </a:rPr>
              <a:t>Encapsulation(Hiding):-</a:t>
            </a:r>
          </a:p>
          <a:p>
            <a:pPr marL="0" indent="0">
              <a:buNone/>
            </a:pPr>
            <a:r>
              <a:rPr lang="en-US" sz="1900" dirty="0" smtClean="0">
                <a:solidFill>
                  <a:schemeClr val="tx1"/>
                </a:solidFill>
                <a:sym typeface="Wingdings" panose="05000000000000000000" pitchFamily="2" charset="2"/>
              </a:rPr>
              <a:t>Wrapping or binding of data &amp; member functions in one memory block.</a:t>
            </a:r>
          </a:p>
          <a:p>
            <a:pPr marL="0" indent="0">
              <a:buNone/>
            </a:pPr>
            <a:r>
              <a:rPr lang="en-US" sz="1900" dirty="0" smtClean="0">
                <a:solidFill>
                  <a:schemeClr val="tx1"/>
                </a:solidFill>
                <a:sym typeface="Wingdings" panose="05000000000000000000" pitchFamily="2" charset="2"/>
              </a:rPr>
              <a:t>Encapsulation means enclosing one or more detail from outside world. there are access  specefier through access the right. using access specefire controlling the data who are eligible or author able to access the data. </a:t>
            </a:r>
          </a:p>
          <a:p>
            <a:r>
              <a:rPr lang="en-US" sz="1900" dirty="0" smtClean="0">
                <a:solidFill>
                  <a:schemeClr val="accent1">
                    <a:lumMod val="60000"/>
                    <a:lumOff val="40000"/>
                  </a:schemeClr>
                </a:solidFill>
                <a:sym typeface="Wingdings" panose="05000000000000000000" pitchFamily="2" charset="2"/>
              </a:rPr>
              <a:t>Inheritance(Reuse ability):-</a:t>
            </a:r>
            <a:endParaRPr lang="en-IN" sz="1900" dirty="0" smtClean="0">
              <a:solidFill>
                <a:schemeClr val="accent1">
                  <a:lumMod val="60000"/>
                  <a:lumOff val="40000"/>
                </a:schemeClr>
              </a:solidFill>
              <a:sym typeface="Wingdings" panose="05000000000000000000" pitchFamily="2" charset="2"/>
            </a:endParaRPr>
          </a:p>
          <a:p>
            <a:pPr marL="0" indent="0">
              <a:buNone/>
            </a:pPr>
            <a:r>
              <a:rPr lang="en-US" sz="1900" dirty="0" smtClean="0">
                <a:solidFill>
                  <a:schemeClr val="tx1"/>
                </a:solidFill>
                <a:sym typeface="Wingdings" panose="05000000000000000000" pitchFamily="2" charset="2"/>
              </a:rPr>
              <a:t>Inheritance is the mechanism creating a new class from old one or existing class then all the features of existing class gets copied into new class using inheritance. We can reuse the code using inheritance.</a:t>
            </a:r>
            <a:endParaRPr lang="en-US" sz="1900" dirty="0" smtClean="0">
              <a:solidFill>
                <a:schemeClr val="accent1">
                  <a:lumMod val="60000"/>
                  <a:lumOff val="40000"/>
                </a:schemeClr>
              </a:solidFill>
              <a:sym typeface="Wingdings" panose="05000000000000000000" pitchFamily="2" charset="2"/>
            </a:endParaRPr>
          </a:p>
          <a:p>
            <a:r>
              <a:rPr lang="en-US" sz="1900" dirty="0" smtClean="0">
                <a:solidFill>
                  <a:schemeClr val="accent1">
                    <a:lumMod val="60000"/>
                    <a:lumOff val="40000"/>
                  </a:schemeClr>
                </a:solidFill>
                <a:sym typeface="Wingdings" panose="05000000000000000000" pitchFamily="2" charset="2"/>
              </a:rPr>
              <a:t>Polymorphism(one to many relationship):-</a:t>
            </a:r>
          </a:p>
          <a:p>
            <a:pPr marL="0" indent="0">
              <a:buNone/>
            </a:pPr>
            <a:r>
              <a:rPr lang="en-US" sz="1900" dirty="0" smtClean="0">
                <a:solidFill>
                  <a:schemeClr val="tx1"/>
                </a:solidFill>
                <a:sym typeface="Wingdings" panose="05000000000000000000" pitchFamily="2" charset="2"/>
              </a:rPr>
              <a:t>Polymorphism</a:t>
            </a:r>
            <a:r>
              <a:rPr lang="en-US" sz="1900" dirty="0" smtClean="0">
                <a:solidFill>
                  <a:schemeClr val="accent1">
                    <a:lumMod val="60000"/>
                    <a:lumOff val="40000"/>
                  </a:schemeClr>
                </a:solidFill>
                <a:sym typeface="Wingdings" panose="05000000000000000000" pitchFamily="2" charset="2"/>
              </a:rPr>
              <a:t> </a:t>
            </a:r>
            <a:r>
              <a:rPr lang="en-US" sz="1900" dirty="0" smtClean="0">
                <a:solidFill>
                  <a:schemeClr val="tx1"/>
                </a:solidFill>
                <a:sym typeface="Wingdings" panose="05000000000000000000" pitchFamily="2" charset="2"/>
              </a:rPr>
              <a:t>means doing a job in different way. In that one entity is exist in different forms  it change its behavior is depend upon different circumstance.</a:t>
            </a:r>
          </a:p>
          <a:p>
            <a:pPr marL="0" indent="0">
              <a:buNone/>
            </a:pPr>
            <a:endParaRPr lang="en-US" sz="1900" dirty="0" smtClean="0">
              <a:solidFill>
                <a:schemeClr val="tx1"/>
              </a:solidFill>
              <a:sym typeface="Wingdings" panose="05000000000000000000" pitchFamily="2" charset="2"/>
            </a:endParaRPr>
          </a:p>
          <a:p>
            <a:pPr marL="0" indent="0">
              <a:buNone/>
            </a:pPr>
            <a:endParaRPr lang="en-US" sz="1900" dirty="0" smtClean="0">
              <a:solidFill>
                <a:schemeClr val="accent1">
                  <a:lumMod val="60000"/>
                  <a:lumOff val="40000"/>
                </a:schemeClr>
              </a:solidFill>
              <a:sym typeface="Wingdings" panose="05000000000000000000" pitchFamily="2" charset="2"/>
            </a:endParaRPr>
          </a:p>
          <a:p>
            <a:endParaRPr lang="en-US" dirty="0" smtClean="0">
              <a:solidFill>
                <a:schemeClr val="accent1">
                  <a:lumMod val="60000"/>
                  <a:lumOff val="40000"/>
                </a:schemeClr>
              </a:solidFill>
              <a:sym typeface="Wingdings" panose="05000000000000000000" pitchFamily="2" charset="2"/>
            </a:endParaRPr>
          </a:p>
          <a:p>
            <a:endParaRPr lang="en-US" dirty="0" smtClean="0">
              <a:solidFill>
                <a:schemeClr val="accent1">
                  <a:lumMod val="60000"/>
                  <a:lumOff val="40000"/>
                </a:schemeClr>
              </a:solidFill>
              <a:sym typeface="Wingdings" panose="05000000000000000000" pitchFamily="2" charset="2"/>
            </a:endParaRPr>
          </a:p>
          <a:p>
            <a:pPr marL="0" indent="0">
              <a:buNone/>
            </a:pPr>
            <a:endParaRPr lang="en-US" dirty="0" smtClean="0">
              <a:solidFill>
                <a:schemeClr val="tx1"/>
              </a:solidFill>
              <a:sym typeface="Wingdings" panose="05000000000000000000" pitchFamily="2" charset="2"/>
            </a:endParaRPr>
          </a:p>
        </p:txBody>
      </p:sp>
    </p:spTree>
    <p:extLst>
      <p:ext uri="{BB962C8B-B14F-4D97-AF65-F5344CB8AC3E}">
        <p14:creationId xmlns:p14="http://schemas.microsoft.com/office/powerpoint/2010/main" val="3996335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Where is java used?</a:t>
            </a:r>
          </a:p>
        </p:txBody>
      </p:sp>
      <p:sp>
        <p:nvSpPr>
          <p:cNvPr id="3" name="Content Placeholder 2"/>
          <p:cNvSpPr>
            <a:spLocks noGrp="1"/>
          </p:cNvSpPr>
          <p:nvPr>
            <p:ph idx="1"/>
          </p:nvPr>
        </p:nvSpPr>
        <p:spPr/>
        <p:txBody>
          <a:bodyPr>
            <a:normAutofit lnSpcReduction="10000"/>
          </a:bodyPr>
          <a:lstStyle/>
          <a:p>
            <a:r>
              <a:rPr lang="en-US" dirty="0"/>
              <a:t>According to Sun, 3 billion devices run Java. There are many devices where Java is currently used. Some of them are as follows:</a:t>
            </a:r>
          </a:p>
          <a:p>
            <a:r>
              <a:rPr lang="en-IN" dirty="0"/>
              <a:t>Desktop Applications such as acrobat reader, media player, antivirus, etc.</a:t>
            </a:r>
          </a:p>
          <a:p>
            <a:r>
              <a:rPr lang="en-IN" dirty="0" smtClean="0"/>
              <a:t>such </a:t>
            </a:r>
            <a:r>
              <a:rPr lang="en-IN" dirty="0"/>
              <a:t>as banking </a:t>
            </a:r>
            <a:r>
              <a:rPr lang="en-IN" dirty="0" smtClean="0"/>
              <a:t>application ,Web </a:t>
            </a:r>
            <a:r>
              <a:rPr lang="en-IN" dirty="0"/>
              <a:t>Applications such as irctc.co.in, javatpoint.com, etc.</a:t>
            </a:r>
          </a:p>
          <a:p>
            <a:r>
              <a:rPr lang="en-IN" dirty="0"/>
              <a:t>Enterprise </a:t>
            </a:r>
            <a:r>
              <a:rPr lang="en-IN" dirty="0" smtClean="0"/>
              <a:t>Applications.</a:t>
            </a:r>
            <a:endParaRPr lang="en-IN" dirty="0"/>
          </a:p>
          <a:p>
            <a:r>
              <a:rPr lang="en-IN" dirty="0"/>
              <a:t>Mobile</a:t>
            </a:r>
          </a:p>
          <a:p>
            <a:r>
              <a:rPr lang="en-IN" dirty="0"/>
              <a:t>Embedded System</a:t>
            </a:r>
          </a:p>
          <a:p>
            <a:r>
              <a:rPr lang="en-IN" dirty="0"/>
              <a:t>Smart Card</a:t>
            </a:r>
          </a:p>
          <a:p>
            <a:r>
              <a:rPr lang="en-IN" dirty="0"/>
              <a:t>Robotics</a:t>
            </a:r>
          </a:p>
          <a:p>
            <a:r>
              <a:rPr lang="en-IN" dirty="0"/>
              <a:t>Games, etc.</a:t>
            </a:r>
          </a:p>
          <a:p>
            <a:endParaRPr lang="en-IN" dirty="0"/>
          </a:p>
        </p:txBody>
      </p:sp>
    </p:spTree>
    <p:extLst>
      <p:ext uri="{BB962C8B-B14F-4D97-AF65-F5344CB8AC3E}">
        <p14:creationId xmlns:p14="http://schemas.microsoft.com/office/powerpoint/2010/main" val="4166674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java</a:t>
            </a:r>
          </a:p>
        </p:txBody>
      </p:sp>
      <p:sp>
        <p:nvSpPr>
          <p:cNvPr id="3" name="Content Placeholder 2"/>
          <p:cNvSpPr>
            <a:spLocks noGrp="1"/>
          </p:cNvSpPr>
          <p:nvPr>
            <p:ph idx="1"/>
          </p:nvPr>
        </p:nvSpPr>
        <p:spPr/>
        <p:txBody>
          <a:bodyPr>
            <a:normAutofit/>
          </a:bodyPr>
          <a:lstStyle/>
          <a:p>
            <a:r>
              <a:rPr lang="en-IN" dirty="0"/>
              <a:t>Simple</a:t>
            </a:r>
          </a:p>
          <a:p>
            <a:r>
              <a:rPr lang="en-IN" dirty="0"/>
              <a:t>Robust</a:t>
            </a:r>
          </a:p>
          <a:p>
            <a:r>
              <a:rPr lang="en-IN" dirty="0"/>
              <a:t>Independent</a:t>
            </a:r>
          </a:p>
          <a:p>
            <a:r>
              <a:rPr lang="en-IN" dirty="0"/>
              <a:t>Multi-Threaded</a:t>
            </a:r>
          </a:p>
          <a:p>
            <a:r>
              <a:rPr lang="en-US" dirty="0" smtClean="0"/>
              <a:t>Distributed</a:t>
            </a:r>
            <a:endParaRPr lang="en-IN" dirty="0"/>
          </a:p>
          <a:p>
            <a:r>
              <a:rPr lang="en-US" dirty="0" smtClean="0"/>
              <a:t>Interpreted</a:t>
            </a:r>
            <a:endParaRPr lang="en-IN" dirty="0"/>
          </a:p>
          <a:p>
            <a:r>
              <a:rPr lang="en-IN" dirty="0"/>
              <a:t>Object Oriented</a:t>
            </a:r>
          </a:p>
          <a:p>
            <a:r>
              <a:rPr lang="en-IN" dirty="0"/>
              <a:t>Dynamic</a:t>
            </a:r>
          </a:p>
          <a:p>
            <a:r>
              <a:rPr lang="en-IN" dirty="0"/>
              <a:t>Secured</a:t>
            </a:r>
          </a:p>
        </p:txBody>
      </p:sp>
    </p:spTree>
    <p:extLst>
      <p:ext uri="{BB962C8B-B14F-4D97-AF65-F5344CB8AC3E}">
        <p14:creationId xmlns:p14="http://schemas.microsoft.com/office/powerpoint/2010/main" val="2846966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a:t>Memory </a:t>
            </a:r>
            <a:r>
              <a:rPr lang="en-IN" sz="4000" dirty="0" smtClean="0"/>
              <a:t>expansions</a:t>
            </a:r>
            <a:endParaRPr lang="en-IN" sz="4000" dirty="0"/>
          </a:p>
        </p:txBody>
      </p:sp>
      <p:sp>
        <p:nvSpPr>
          <p:cNvPr id="3" name="Content Placeholder 2"/>
          <p:cNvSpPr>
            <a:spLocks noGrp="1"/>
          </p:cNvSpPr>
          <p:nvPr>
            <p:ph idx="1"/>
          </p:nvPr>
        </p:nvSpPr>
        <p:spPr>
          <a:xfrm>
            <a:off x="677334" y="1240325"/>
            <a:ext cx="7729728" cy="4314314"/>
          </a:xfrm>
        </p:spPr>
        <p:txBody>
          <a:bodyPr>
            <a:noAutofit/>
          </a:bodyPr>
          <a:lstStyle/>
          <a:p>
            <a:r>
              <a:rPr lang="en-US" sz="1600" dirty="0" smtClean="0"/>
              <a:t>Most of computer system Byte is a unit of data .its 8 binary digits.</a:t>
            </a:r>
            <a:endParaRPr lang="en-IN" sz="1600" dirty="0" smtClean="0"/>
          </a:p>
          <a:p>
            <a:r>
              <a:rPr lang="en-IN" sz="1600" dirty="0" smtClean="0"/>
              <a:t>1 YB-&gt; A </a:t>
            </a:r>
            <a:r>
              <a:rPr lang="en-IN" sz="1600" dirty="0" err="1" smtClean="0"/>
              <a:t>yotta</a:t>
            </a:r>
            <a:r>
              <a:rPr lang="en-IN" sz="1600" dirty="0" smtClean="0"/>
              <a:t> byte(YB) measure of theoretical storage capacity and data volumes equal to 2 to 80</a:t>
            </a:r>
            <a:r>
              <a:rPr lang="en-IN" sz="1600" baseline="30000" dirty="0" smtClean="0"/>
              <a:t>th</a:t>
            </a:r>
            <a:r>
              <a:rPr lang="en-IN" sz="1600" dirty="0" smtClean="0"/>
              <a:t> power bytes or approximately million , trillion mega bytes(MB). It used to denote size of data.</a:t>
            </a:r>
            <a:endParaRPr lang="en-IN" sz="1600" dirty="0"/>
          </a:p>
          <a:p>
            <a:r>
              <a:rPr lang="en-IN" sz="1600" dirty="0"/>
              <a:t>1 </a:t>
            </a:r>
            <a:r>
              <a:rPr lang="en-IN" sz="1600" dirty="0" smtClean="0"/>
              <a:t>EB -&gt;( </a:t>
            </a:r>
            <a:r>
              <a:rPr lang="en-IN" sz="1600" dirty="0" err="1" smtClean="0"/>
              <a:t>Exa</a:t>
            </a:r>
            <a:r>
              <a:rPr lang="en-IN" sz="1600" dirty="0" smtClean="0"/>
              <a:t> byte)Extraordinary large unit of digital data.1EB=1024 petabytes or one billion gigabytes.</a:t>
            </a:r>
            <a:endParaRPr lang="en-IN" sz="1600" dirty="0"/>
          </a:p>
          <a:p>
            <a:r>
              <a:rPr lang="en-IN" sz="1600" dirty="0"/>
              <a:t>1 </a:t>
            </a:r>
            <a:r>
              <a:rPr lang="en-IN" sz="1600" dirty="0" smtClean="0"/>
              <a:t>ZB-&gt;Zeta Byte is a(1ZB)1024</a:t>
            </a:r>
            <a:endParaRPr lang="en-IN" sz="1600" dirty="0"/>
          </a:p>
          <a:p>
            <a:r>
              <a:rPr lang="en-IN" sz="1600" dirty="0"/>
              <a:t>1 </a:t>
            </a:r>
            <a:r>
              <a:rPr lang="en-IN" sz="1600" dirty="0" smtClean="0"/>
              <a:t>PB-&gt;Petabytes is  measure of memory or data storage capacity that is equal to 2 to 50th power bytes..1PB=1024 TB. 1024 PB makes 1 </a:t>
            </a:r>
            <a:r>
              <a:rPr lang="en-IN" sz="1600" dirty="0" err="1" smtClean="0"/>
              <a:t>Exa</a:t>
            </a:r>
            <a:r>
              <a:rPr lang="en-IN" sz="1600" dirty="0" smtClean="0"/>
              <a:t> Byte</a:t>
            </a:r>
            <a:endParaRPr lang="en-IN" sz="1600" dirty="0"/>
          </a:p>
          <a:p>
            <a:r>
              <a:rPr lang="en-IN" sz="1600" dirty="0"/>
              <a:t>1 </a:t>
            </a:r>
            <a:r>
              <a:rPr lang="en-IN" sz="1600" dirty="0" smtClean="0"/>
              <a:t>TB-&gt;1,000 GB or 1,000,000 MB. TB is decimal notation(base 10).</a:t>
            </a:r>
            <a:endParaRPr lang="en-IN" sz="1600" dirty="0"/>
          </a:p>
          <a:p>
            <a:r>
              <a:rPr lang="en-IN" sz="1600" dirty="0"/>
              <a:t>1 GB </a:t>
            </a:r>
            <a:r>
              <a:rPr lang="en-IN" sz="1600" dirty="0" smtClean="0"/>
              <a:t>= Giga Byte </a:t>
            </a:r>
            <a:r>
              <a:rPr lang="en-IN" sz="1600" dirty="0"/>
              <a:t>1024 MB = </a:t>
            </a:r>
            <a:r>
              <a:rPr lang="en-IN" sz="1600" dirty="0" smtClean="0"/>
              <a:t>2^10.</a:t>
            </a:r>
            <a:endParaRPr lang="en-IN" sz="1600" dirty="0"/>
          </a:p>
          <a:p>
            <a:r>
              <a:rPr lang="en-IN" sz="1600" dirty="0"/>
              <a:t>1 </a:t>
            </a:r>
            <a:r>
              <a:rPr lang="en-IN" sz="1600" dirty="0" smtClean="0"/>
              <a:t>MB=Mega Byte is about 1 million bytes or about 1000 kilobytes (KB).</a:t>
            </a:r>
            <a:endParaRPr lang="en-IN" sz="1600" dirty="0"/>
          </a:p>
          <a:p>
            <a:r>
              <a:rPr lang="en-IN" sz="1600" dirty="0"/>
              <a:t>1 </a:t>
            </a:r>
            <a:r>
              <a:rPr lang="en-IN" sz="1600" dirty="0" smtClean="0"/>
              <a:t>KB=Kilo Byte is unit of measurement of computer memory or data storage used by mathematics and computer science professionals.</a:t>
            </a:r>
            <a:endParaRPr lang="en-IN" sz="1600" dirty="0"/>
          </a:p>
          <a:p>
            <a:r>
              <a:rPr lang="en-IN" sz="1600" dirty="0"/>
              <a:t>1 </a:t>
            </a:r>
            <a:r>
              <a:rPr lang="en-IN" sz="1600" dirty="0" smtClean="0"/>
              <a:t>Byte=8 bits.</a:t>
            </a:r>
            <a:endParaRPr lang="en-IN" sz="1600" dirty="0"/>
          </a:p>
          <a:p>
            <a:r>
              <a:rPr lang="en-IN" sz="1600" dirty="0"/>
              <a:t>1 </a:t>
            </a:r>
            <a:r>
              <a:rPr lang="en-IN" sz="1600" dirty="0" smtClean="0"/>
              <a:t>Bit=is a binary digit , or  smallest increment of data on computer. Bit can hold only one of two values are 0 and 1.</a:t>
            </a:r>
            <a:endParaRPr lang="en-IN" sz="1600" dirty="0"/>
          </a:p>
        </p:txBody>
      </p:sp>
    </p:spTree>
    <p:extLst>
      <p:ext uri="{BB962C8B-B14F-4D97-AF65-F5344CB8AC3E}">
        <p14:creationId xmlns:p14="http://schemas.microsoft.com/office/powerpoint/2010/main" val="358664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Java Called Object Oriented?</a:t>
            </a:r>
            <a:br>
              <a:rPr lang="en-IN" dirty="0"/>
            </a:br>
            <a:endParaRPr lang="en-IN" dirty="0"/>
          </a:p>
        </p:txBody>
      </p:sp>
      <p:sp>
        <p:nvSpPr>
          <p:cNvPr id="3" name="Content Placeholder 2"/>
          <p:cNvSpPr>
            <a:spLocks noGrp="1"/>
          </p:cNvSpPr>
          <p:nvPr>
            <p:ph idx="1"/>
          </p:nvPr>
        </p:nvSpPr>
        <p:spPr/>
        <p:txBody>
          <a:bodyPr/>
          <a:lstStyle/>
          <a:p>
            <a:r>
              <a:rPr lang="en-IN" dirty="0"/>
              <a:t>We can organize our software as a combination of different types of Objects, that can incorporate </a:t>
            </a:r>
            <a:r>
              <a:rPr lang="en-IN" dirty="0" smtClean="0"/>
              <a:t>both </a:t>
            </a:r>
            <a:r>
              <a:rPr lang="en-IN" dirty="0"/>
              <a:t>data and behaviour</a:t>
            </a:r>
          </a:p>
          <a:p>
            <a:r>
              <a:rPr lang="en-IN" dirty="0"/>
              <a:t>Object Oriented is a Method that simplifies the software development by providing the rules:</a:t>
            </a:r>
          </a:p>
          <a:p>
            <a:pPr lvl="1"/>
            <a:r>
              <a:rPr lang="en-IN" dirty="0"/>
              <a:t>OOPs Concept</a:t>
            </a:r>
          </a:p>
          <a:p>
            <a:pPr lvl="2"/>
            <a:r>
              <a:rPr lang="en-IN" dirty="0" smtClean="0"/>
              <a:t>Object(Real Time Entity)</a:t>
            </a:r>
            <a:endParaRPr lang="en-IN" dirty="0"/>
          </a:p>
          <a:p>
            <a:pPr lvl="2"/>
            <a:r>
              <a:rPr lang="en-IN" dirty="0" smtClean="0"/>
              <a:t>Class(Logical Entity)</a:t>
            </a:r>
            <a:endParaRPr lang="en-IN" dirty="0"/>
          </a:p>
          <a:p>
            <a:pPr lvl="2"/>
            <a:r>
              <a:rPr lang="en-IN" dirty="0" smtClean="0"/>
              <a:t>Inheritance(Reuse ability)</a:t>
            </a:r>
            <a:endParaRPr lang="en-IN" dirty="0"/>
          </a:p>
          <a:p>
            <a:pPr lvl="2"/>
            <a:r>
              <a:rPr lang="en-IN" dirty="0" smtClean="0"/>
              <a:t>Polymorphism(One To Many Relationship)</a:t>
            </a:r>
            <a:endParaRPr lang="en-IN" dirty="0"/>
          </a:p>
          <a:p>
            <a:pPr lvl="2"/>
            <a:r>
              <a:rPr lang="en-IN" dirty="0" smtClean="0"/>
              <a:t>Abstraction(Data Hiding)</a:t>
            </a:r>
            <a:endParaRPr lang="en-IN" dirty="0"/>
          </a:p>
          <a:p>
            <a:pPr lvl="2"/>
            <a:r>
              <a:rPr lang="en-IN" dirty="0" smtClean="0"/>
              <a:t>Encapsulation(Hide)</a:t>
            </a:r>
            <a:endParaRPr lang="en-IN" dirty="0"/>
          </a:p>
        </p:txBody>
      </p:sp>
    </p:spTree>
    <p:extLst>
      <p:ext uri="{BB962C8B-B14F-4D97-AF65-F5344CB8AC3E}">
        <p14:creationId xmlns:p14="http://schemas.microsoft.com/office/powerpoint/2010/main" val="2633489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Platform Independent</a:t>
            </a:r>
          </a:p>
        </p:txBody>
      </p:sp>
      <p:sp>
        <p:nvSpPr>
          <p:cNvPr id="3" name="Content Placeholder 2"/>
          <p:cNvSpPr>
            <a:spLocks noGrp="1"/>
          </p:cNvSpPr>
          <p:nvPr>
            <p:ph idx="1"/>
          </p:nvPr>
        </p:nvSpPr>
        <p:spPr/>
        <p:txBody>
          <a:bodyPr/>
          <a:lstStyle/>
          <a:p>
            <a:r>
              <a:rPr lang="en-IN" dirty="0"/>
              <a:t>Java is a Platform Independent Language, this is because it is slight different from other languages: Like C and C++.</a:t>
            </a:r>
          </a:p>
          <a:p>
            <a:r>
              <a:rPr lang="en-IN" dirty="0"/>
              <a:t>C and C++ are compiled into the platform specific machines. </a:t>
            </a:r>
            <a:r>
              <a:rPr lang="en-US" dirty="0"/>
              <a:t>while Java is a write once, run anywhere language. </a:t>
            </a:r>
          </a:p>
          <a:p>
            <a:r>
              <a:rPr lang="en-US" dirty="0"/>
              <a:t>Java code can be executed on </a:t>
            </a:r>
            <a:r>
              <a:rPr lang="en-US" dirty="0" smtClean="0"/>
              <a:t>multiple platforms, for example, Windows, Linux, Sun Solaris, Mac/OS, etc. Java code is compiled by </a:t>
            </a:r>
            <a:r>
              <a:rPr lang="en-US" dirty="0"/>
              <a:t>the compiler and converted into bytecode. </a:t>
            </a:r>
          </a:p>
          <a:p>
            <a:r>
              <a:rPr lang="en-US" dirty="0"/>
              <a:t>This bytecode is a platform-independent code because it can be run on multiple platforms, i.e</a:t>
            </a:r>
            <a:r>
              <a:rPr lang="en-US" dirty="0" smtClean="0"/>
              <a:t>. </a:t>
            </a:r>
            <a:r>
              <a:rPr lang="en-US" dirty="0"/>
              <a:t>Write Once and Run Anywhere (WORA).</a:t>
            </a:r>
          </a:p>
          <a:p>
            <a:pPr marL="0" indent="0">
              <a:buNone/>
            </a:pPr>
            <a:r>
              <a:rPr lang="en-US" dirty="0"/>
              <a:t/>
            </a:r>
            <a:br>
              <a:rPr lang="en-US" dirty="0"/>
            </a:br>
            <a:endParaRPr lang="en-IN" dirty="0"/>
          </a:p>
        </p:txBody>
      </p:sp>
    </p:spTree>
    <p:extLst>
      <p:ext uri="{BB962C8B-B14F-4D97-AF65-F5344CB8AC3E}">
        <p14:creationId xmlns:p14="http://schemas.microsoft.com/office/powerpoint/2010/main" val="550113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INSTALLATION</a:t>
            </a:r>
            <a:endParaRPr lang="en-IN" dirty="0"/>
          </a:p>
        </p:txBody>
      </p:sp>
      <p:sp>
        <p:nvSpPr>
          <p:cNvPr id="3" name="Content Placeholder 2"/>
          <p:cNvSpPr>
            <a:spLocks noGrp="1"/>
          </p:cNvSpPr>
          <p:nvPr>
            <p:ph idx="1"/>
          </p:nvPr>
        </p:nvSpPr>
        <p:spPr/>
        <p:txBody>
          <a:bodyPr>
            <a:normAutofit/>
          </a:bodyPr>
          <a:lstStyle/>
          <a:p>
            <a:r>
              <a:rPr lang="en-IN" sz="2400" dirty="0" smtClean="0"/>
              <a:t>JDK:-It Contains Different Tools Required To Devloped And Run Java Programs</a:t>
            </a:r>
            <a:endParaRPr lang="en-IN" sz="2400" dirty="0"/>
          </a:p>
          <a:p>
            <a:r>
              <a:rPr lang="en-IN" sz="2400" dirty="0" smtClean="0"/>
              <a:t>-JRE:-It Is Set Of Tool. Which Is Used To Developed Java Applications </a:t>
            </a:r>
            <a:endParaRPr lang="en-IN" sz="2400" dirty="0"/>
          </a:p>
          <a:p>
            <a:r>
              <a:rPr lang="en-IN" sz="2400" dirty="0" smtClean="0"/>
              <a:t>JVM:-It Doesn’t Physically Exist. External Programs Are There Which Are Required To Run Java Applications </a:t>
            </a:r>
            <a:endParaRPr lang="en-IN" sz="2400" dirty="0"/>
          </a:p>
        </p:txBody>
      </p:sp>
    </p:spTree>
    <p:extLst>
      <p:ext uri="{BB962C8B-B14F-4D97-AF65-F5344CB8AC3E}">
        <p14:creationId xmlns:p14="http://schemas.microsoft.com/office/powerpoint/2010/main" val="2933783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Steps to Write a Program In JAVA</a:t>
            </a:r>
            <a:br>
              <a:rPr lang="en-IN" dirty="0"/>
            </a:br>
            <a:endParaRPr lang="en-IN" dirty="0"/>
          </a:p>
        </p:txBody>
      </p:sp>
      <p:sp>
        <p:nvSpPr>
          <p:cNvPr id="3" name="Content Placeholder 2"/>
          <p:cNvSpPr>
            <a:spLocks noGrp="1"/>
          </p:cNvSpPr>
          <p:nvPr>
            <p:ph idx="1"/>
          </p:nvPr>
        </p:nvSpPr>
        <p:spPr/>
        <p:txBody>
          <a:bodyPr/>
          <a:lstStyle/>
          <a:p>
            <a:r>
              <a:rPr lang="en-IN" dirty="0"/>
              <a:t>Download JDK: Windows: x64 Installer</a:t>
            </a:r>
          </a:p>
          <a:p>
            <a:r>
              <a:rPr lang="en-IN" dirty="0"/>
              <a:t>Get </a:t>
            </a:r>
            <a:r>
              <a:rPr lang="en-IN" b="1" dirty="0"/>
              <a:t>Eclipse IDE 20XX – Month</a:t>
            </a:r>
          </a:p>
          <a:p>
            <a:r>
              <a:rPr lang="en-IN" dirty="0"/>
              <a:t>Select option 2: Eclipse IDE Enterprise for JAVA and Web Development</a:t>
            </a:r>
          </a:p>
          <a:p>
            <a:r>
              <a:rPr lang="en-IN" dirty="0"/>
              <a:t>Open the Eclipse Software that is on the Desktop</a:t>
            </a:r>
          </a:p>
          <a:p>
            <a:r>
              <a:rPr lang="en-IN" dirty="0"/>
              <a:t>Go to File: New: Project: Java Project: Project Name: Do not create the Module: Right click on new Folder:</a:t>
            </a:r>
          </a:p>
          <a:p>
            <a:r>
              <a:rPr lang="en-IN" dirty="0"/>
              <a:t>New: Class: name of java class: select the method: Finish</a:t>
            </a:r>
          </a:p>
          <a:p>
            <a:r>
              <a:rPr lang="en-IN" dirty="0"/>
              <a:t>Write the code</a:t>
            </a:r>
          </a:p>
          <a:p>
            <a:r>
              <a:rPr lang="en-IN" dirty="0"/>
              <a:t>Run the Program.</a:t>
            </a:r>
          </a:p>
          <a:p>
            <a:endParaRPr lang="en-IN" dirty="0"/>
          </a:p>
        </p:txBody>
      </p:sp>
    </p:spTree>
    <p:extLst>
      <p:ext uri="{BB962C8B-B14F-4D97-AF65-F5344CB8AC3E}">
        <p14:creationId xmlns:p14="http://schemas.microsoft.com/office/powerpoint/2010/main" val="3758696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PARAMETERS IN JAVA</a:t>
            </a:r>
          </a:p>
        </p:txBody>
      </p:sp>
      <p:sp>
        <p:nvSpPr>
          <p:cNvPr id="3" name="Content Placeholder 2"/>
          <p:cNvSpPr>
            <a:spLocks noGrp="1"/>
          </p:cNvSpPr>
          <p:nvPr>
            <p:ph idx="1"/>
          </p:nvPr>
        </p:nvSpPr>
        <p:spPr/>
        <p:txBody>
          <a:bodyPr/>
          <a:lstStyle/>
          <a:p>
            <a:r>
              <a:rPr lang="en-IN" dirty="0"/>
              <a:t>Public: It is a Keyword which is an access specifier of main method. Public means it is accessible anywhere in the program. </a:t>
            </a:r>
            <a:r>
              <a:rPr lang="en-IN" dirty="0" smtClean="0"/>
              <a:t>Access Specifier of Main Method is always Public.</a:t>
            </a:r>
          </a:p>
          <a:p>
            <a:r>
              <a:rPr lang="en-IN" dirty="0" smtClean="0"/>
              <a:t>Class: It is a Keyword that is used to declare a class. </a:t>
            </a:r>
          </a:p>
          <a:p>
            <a:r>
              <a:rPr lang="en-IN" dirty="0" smtClean="0"/>
              <a:t>Static</a:t>
            </a:r>
            <a:r>
              <a:rPr lang="en-IN" dirty="0"/>
              <a:t>: </a:t>
            </a:r>
            <a:r>
              <a:rPr lang="en-IN" dirty="0" smtClean="0"/>
              <a:t>It’s </a:t>
            </a:r>
            <a:r>
              <a:rPr lang="en-IN" dirty="0"/>
              <a:t>a keyword. With the help of static </a:t>
            </a:r>
            <a:r>
              <a:rPr lang="en-IN" dirty="0" smtClean="0"/>
              <a:t>keyword we can call data of the class, without creation of object we can call data members and member function of the class. with the help of class name to making variables and method as static. use keyword static before method &amp; variable name. </a:t>
            </a:r>
            <a:endParaRPr lang="en-IN" dirty="0"/>
          </a:p>
          <a:p>
            <a:r>
              <a:rPr lang="en-IN" dirty="0"/>
              <a:t>Void: It is the return type of the method. It means it does not return any value.</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790794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550417"/>
            <a:ext cx="8596668" cy="5490946"/>
          </a:xfrm>
        </p:spPr>
        <p:txBody>
          <a:bodyPr/>
          <a:lstStyle/>
          <a:p>
            <a:r>
              <a:rPr lang="en-IN" dirty="0"/>
              <a:t>Main: It is the name of method and it represents the starting point of </a:t>
            </a:r>
            <a:r>
              <a:rPr lang="en-IN" dirty="0" smtClean="0"/>
              <a:t>the program</a:t>
            </a:r>
            <a:r>
              <a:rPr lang="en-IN" dirty="0"/>
              <a:t>.</a:t>
            </a:r>
          </a:p>
          <a:p>
            <a:r>
              <a:rPr lang="en-IN" dirty="0"/>
              <a:t>String[] args or String args[]: It is string type array that is used for command line argument or taking the input from the user. </a:t>
            </a:r>
          </a:p>
          <a:p>
            <a:r>
              <a:rPr lang="en-IN" dirty="0"/>
              <a:t>System.out.println: Print Function</a:t>
            </a:r>
          </a:p>
          <a:p>
            <a:pPr lvl="1"/>
            <a:r>
              <a:rPr lang="en-IN" dirty="0"/>
              <a:t>System: It is the in-built class of Java.</a:t>
            </a:r>
          </a:p>
          <a:p>
            <a:pPr lvl="1"/>
            <a:r>
              <a:rPr lang="en-IN" dirty="0"/>
              <a:t>out: It is the </a:t>
            </a:r>
            <a:r>
              <a:rPr lang="en-IN" dirty="0" smtClean="0"/>
              <a:t>objct of </a:t>
            </a:r>
            <a:r>
              <a:rPr lang="en-IN" dirty="0"/>
              <a:t>the system class.</a:t>
            </a:r>
          </a:p>
          <a:p>
            <a:pPr lvl="1"/>
            <a:r>
              <a:rPr lang="en-IN" dirty="0"/>
              <a:t>print: It is the Method of the system class.</a:t>
            </a:r>
          </a:p>
          <a:p>
            <a:pPr lvl="1"/>
            <a:r>
              <a:rPr lang="en-IN" dirty="0"/>
              <a:t>(“Welcome”): Message that is going to be printed.</a:t>
            </a:r>
          </a:p>
          <a:p>
            <a:pPr lvl="1"/>
            <a:r>
              <a:rPr lang="en-IN" dirty="0"/>
              <a:t>}: First closing curly bracket represents the closing of the main method</a:t>
            </a:r>
          </a:p>
          <a:p>
            <a:pPr lvl="1"/>
            <a:r>
              <a:rPr lang="en-IN" dirty="0"/>
              <a:t>}: Second closing curly bracket represents the closing of the class.</a:t>
            </a:r>
          </a:p>
        </p:txBody>
      </p:sp>
    </p:spTree>
    <p:extLst>
      <p:ext uri="{BB962C8B-B14F-4D97-AF65-F5344CB8AC3E}">
        <p14:creationId xmlns:p14="http://schemas.microsoft.com/office/powerpoint/2010/main" val="1943360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Variables in JAVA</a:t>
            </a:r>
          </a:p>
        </p:txBody>
      </p:sp>
      <p:sp>
        <p:nvSpPr>
          <p:cNvPr id="3" name="Content Placeholder 2"/>
          <p:cNvSpPr>
            <a:spLocks noGrp="1"/>
          </p:cNvSpPr>
          <p:nvPr>
            <p:ph idx="1"/>
          </p:nvPr>
        </p:nvSpPr>
        <p:spPr/>
        <p:txBody>
          <a:bodyPr/>
          <a:lstStyle/>
          <a:p>
            <a:r>
              <a:rPr lang="en-IN" dirty="0"/>
              <a:t>A variable is a container which holds the value while the java program is executed.</a:t>
            </a:r>
          </a:p>
          <a:p>
            <a:r>
              <a:rPr lang="en-IN" dirty="0"/>
              <a:t>A variable is assigned with the data type.</a:t>
            </a:r>
          </a:p>
          <a:p>
            <a:r>
              <a:rPr lang="en-IN" dirty="0"/>
              <a:t>Variable is the name of the memory location.</a:t>
            </a:r>
          </a:p>
          <a:p>
            <a:r>
              <a:rPr lang="en-IN" dirty="0"/>
              <a:t>Datatype specify the different sizes and values that can be stored in the variable.</a:t>
            </a:r>
          </a:p>
          <a:p>
            <a:r>
              <a:rPr lang="en-IN" dirty="0"/>
              <a:t>Types of DATATYPES:</a:t>
            </a:r>
          </a:p>
          <a:p>
            <a:pPr lvl="1"/>
            <a:r>
              <a:rPr lang="en-IN" dirty="0"/>
              <a:t>Primitive: boolean, byte, char, short, int, long, float, and double</a:t>
            </a:r>
          </a:p>
          <a:p>
            <a:pPr lvl="1"/>
            <a:r>
              <a:rPr lang="en-IN" dirty="0"/>
              <a:t>Non-Primitive: </a:t>
            </a:r>
            <a:r>
              <a:rPr lang="en-IN" dirty="0" smtClean="0"/>
              <a:t> arrays ,String .</a:t>
            </a:r>
            <a:endParaRPr lang="en-IN" dirty="0"/>
          </a:p>
        </p:txBody>
      </p:sp>
    </p:spTree>
    <p:extLst>
      <p:ext uri="{BB962C8B-B14F-4D97-AF65-F5344CB8AC3E}">
        <p14:creationId xmlns:p14="http://schemas.microsoft.com/office/powerpoint/2010/main" val="3254771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noChangeAspect="1"/>
          </p:cNvGraphicFramePr>
          <p:nvPr>
            <p:ph idx="1"/>
            <p:extLst>
              <p:ext uri="{D42A27DB-BD31-4B8C-83A1-F6EECF244321}">
                <p14:modId xmlns:p14="http://schemas.microsoft.com/office/powerpoint/2010/main" val="3513433651"/>
              </p:ext>
            </p:extLst>
          </p:nvPr>
        </p:nvGraphicFramePr>
        <p:xfrm>
          <a:off x="1803997" y="1063858"/>
          <a:ext cx="7513637" cy="4511675"/>
        </p:xfrm>
        <a:graphic>
          <a:graphicData uri="http://schemas.openxmlformats.org/presentationml/2006/ole">
            <mc:AlternateContent xmlns:mc="http://schemas.openxmlformats.org/markup-compatibility/2006">
              <mc:Choice xmlns:v="urn:schemas-microsoft-com:vml" Requires="v">
                <p:oleObj spid="_x0000_s1160" name="Worksheet" r:id="rId3" imgW="2849951" imgH="1836523" progId="Excel.Sheet.12">
                  <p:embed/>
                </p:oleObj>
              </mc:Choice>
              <mc:Fallback>
                <p:oleObj name="Worksheet" r:id="rId3" imgW="2849951" imgH="1836523" progId="Excel.Sheet.12">
                  <p:embed/>
                  <p:pic>
                    <p:nvPicPr>
                      <p:cNvPr id="0" name=""/>
                      <p:cNvPicPr/>
                      <p:nvPr/>
                    </p:nvPicPr>
                    <p:blipFill>
                      <a:blip r:embed="rId4"/>
                      <a:stretch>
                        <a:fillRect/>
                      </a:stretch>
                    </p:blipFill>
                    <p:spPr>
                      <a:xfrm>
                        <a:off x="1803997" y="1063858"/>
                        <a:ext cx="7513637" cy="4511675"/>
                      </a:xfrm>
                      <a:prstGeom prst="rect">
                        <a:avLst/>
                      </a:prstGeom>
                      <a:gradFill flip="none" rotWithShape="1">
                        <a:gsLst>
                          <a:gs pos="8000">
                            <a:schemeClr val="accent1">
                              <a:lumMod val="45000"/>
                              <a:lumOff val="55000"/>
                            </a:schemeClr>
                          </a:gs>
                          <a:gs pos="35000">
                            <a:srgbClr val="FFE480"/>
                          </a:gs>
                          <a:gs pos="69000">
                            <a:schemeClr val="accent1">
                              <a:alpha val="97000"/>
                              <a:lumMod val="58000"/>
                              <a:lumOff val="42000"/>
                            </a:schemeClr>
                          </a:gs>
                        </a:gsLst>
                        <a:path path="circle">
                          <a:fillToRect l="100000" t="100000"/>
                        </a:path>
                        <a:tileRect r="-100000" b="-100000"/>
                      </a:gradFill>
                    </p:spPr>
                  </p:pic>
                </p:oleObj>
              </mc:Fallback>
            </mc:AlternateContent>
          </a:graphicData>
        </a:graphic>
      </p:graphicFrame>
    </p:spTree>
    <p:extLst>
      <p:ext uri="{BB962C8B-B14F-4D97-AF65-F5344CB8AC3E}">
        <p14:creationId xmlns:p14="http://schemas.microsoft.com/office/powerpoint/2010/main" val="109989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OPERATORS</a:t>
            </a:r>
          </a:p>
        </p:txBody>
      </p:sp>
      <p:sp>
        <p:nvSpPr>
          <p:cNvPr id="3" name="Content Placeholder 2"/>
          <p:cNvSpPr>
            <a:spLocks noGrp="1"/>
          </p:cNvSpPr>
          <p:nvPr>
            <p:ph idx="1"/>
          </p:nvPr>
        </p:nvSpPr>
        <p:spPr/>
        <p:txBody>
          <a:bodyPr>
            <a:normAutofit fontScale="92500" lnSpcReduction="20000"/>
          </a:bodyPr>
          <a:lstStyle/>
          <a:p>
            <a:r>
              <a:rPr lang="en-IN" dirty="0"/>
              <a:t>Unary</a:t>
            </a:r>
          </a:p>
          <a:p>
            <a:pPr lvl="1"/>
            <a:r>
              <a:rPr lang="en-IN" dirty="0"/>
              <a:t>Postfix: a++, a--</a:t>
            </a:r>
          </a:p>
          <a:p>
            <a:pPr lvl="1"/>
            <a:r>
              <a:rPr lang="en-IN" dirty="0"/>
              <a:t>Prefix: ++a, --a</a:t>
            </a:r>
          </a:p>
          <a:p>
            <a:r>
              <a:rPr lang="en-IN" dirty="0"/>
              <a:t>Arithmetic: +, -, /, *, %</a:t>
            </a:r>
          </a:p>
          <a:p>
            <a:r>
              <a:rPr lang="en-IN" dirty="0"/>
              <a:t>Shift: &lt;&lt;, &gt;&gt;, &gt;&gt;&gt;</a:t>
            </a:r>
          </a:p>
          <a:p>
            <a:r>
              <a:rPr lang="en-IN" dirty="0"/>
              <a:t>Relational</a:t>
            </a:r>
          </a:p>
          <a:p>
            <a:pPr lvl="1"/>
            <a:r>
              <a:rPr lang="en-IN" dirty="0"/>
              <a:t>Comparison: &lt;, &gt;, &lt;=, &gt;=</a:t>
            </a:r>
          </a:p>
          <a:p>
            <a:pPr lvl="1"/>
            <a:r>
              <a:rPr lang="en-IN" dirty="0"/>
              <a:t>Equality: ==, !=</a:t>
            </a:r>
          </a:p>
          <a:p>
            <a:r>
              <a:rPr lang="en-IN" dirty="0"/>
              <a:t>Logical</a:t>
            </a:r>
          </a:p>
          <a:p>
            <a:pPr lvl="1"/>
            <a:r>
              <a:rPr lang="en-IN" dirty="0"/>
              <a:t>Logical AND: &amp;&amp;</a:t>
            </a:r>
          </a:p>
          <a:p>
            <a:pPr lvl="1"/>
            <a:r>
              <a:rPr lang="en-IN" dirty="0"/>
              <a:t>Logical OR: ||</a:t>
            </a:r>
          </a:p>
          <a:p>
            <a:r>
              <a:rPr lang="en-IN" dirty="0"/>
              <a:t>Assignment: =, +=, -+, *=, /=, ^=, !=</a:t>
            </a:r>
          </a:p>
        </p:txBody>
      </p:sp>
    </p:spTree>
    <p:extLst>
      <p:ext uri="{BB962C8B-B14F-4D97-AF65-F5344CB8AC3E}">
        <p14:creationId xmlns:p14="http://schemas.microsoft.com/office/powerpoint/2010/main" val="246175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Statements &amp; Loops </a:t>
            </a:r>
            <a:r>
              <a:rPr lang="en-IN" dirty="0"/>
              <a:t>of JAVA</a:t>
            </a:r>
          </a:p>
        </p:txBody>
      </p:sp>
      <p:sp>
        <p:nvSpPr>
          <p:cNvPr id="3" name="Content Placeholder 2"/>
          <p:cNvSpPr>
            <a:spLocks noGrp="1"/>
          </p:cNvSpPr>
          <p:nvPr>
            <p:ph idx="1"/>
          </p:nvPr>
        </p:nvSpPr>
        <p:spPr>
          <a:xfrm>
            <a:off x="677334" y="1930400"/>
            <a:ext cx="8596668" cy="3880773"/>
          </a:xfrm>
        </p:spPr>
        <p:txBody>
          <a:bodyPr>
            <a:normAutofit fontScale="92500" lnSpcReduction="20000"/>
          </a:bodyPr>
          <a:lstStyle/>
          <a:p>
            <a:r>
              <a:rPr lang="en-IN" dirty="0"/>
              <a:t>Decision Making Statements</a:t>
            </a:r>
          </a:p>
          <a:p>
            <a:pPr lvl="1"/>
            <a:r>
              <a:rPr lang="en-IN" dirty="0"/>
              <a:t>If-Else Statement</a:t>
            </a:r>
          </a:p>
          <a:p>
            <a:pPr lvl="1"/>
            <a:r>
              <a:rPr lang="en-IN" dirty="0"/>
              <a:t>Ladder If-Else</a:t>
            </a:r>
          </a:p>
          <a:p>
            <a:pPr lvl="1"/>
            <a:r>
              <a:rPr lang="en-IN" dirty="0"/>
              <a:t>Nested If-Else</a:t>
            </a:r>
          </a:p>
          <a:p>
            <a:pPr lvl="1"/>
            <a:r>
              <a:rPr lang="en-IN" dirty="0"/>
              <a:t>Switch Case</a:t>
            </a:r>
          </a:p>
          <a:p>
            <a:r>
              <a:rPr lang="en-IN" dirty="0"/>
              <a:t>Looping Statements</a:t>
            </a:r>
          </a:p>
          <a:p>
            <a:pPr lvl="1"/>
            <a:r>
              <a:rPr lang="en-IN" dirty="0"/>
              <a:t>For Loop</a:t>
            </a:r>
          </a:p>
          <a:p>
            <a:pPr lvl="1"/>
            <a:r>
              <a:rPr lang="en-IN" dirty="0"/>
              <a:t>While Loop</a:t>
            </a:r>
          </a:p>
          <a:p>
            <a:pPr lvl="1"/>
            <a:r>
              <a:rPr lang="en-IN" dirty="0"/>
              <a:t>Do-While Loop</a:t>
            </a:r>
          </a:p>
          <a:p>
            <a:r>
              <a:rPr lang="en-IN" dirty="0"/>
              <a:t>Flow Control Statements</a:t>
            </a:r>
          </a:p>
          <a:p>
            <a:pPr lvl="1"/>
            <a:r>
              <a:rPr lang="en-IN" dirty="0"/>
              <a:t>Break</a:t>
            </a:r>
          </a:p>
          <a:p>
            <a:pPr lvl="1"/>
            <a:r>
              <a:rPr lang="en-IN" dirty="0"/>
              <a:t>Continue</a:t>
            </a:r>
          </a:p>
        </p:txBody>
      </p:sp>
    </p:spTree>
    <p:extLst>
      <p:ext uri="{BB962C8B-B14F-4D97-AF65-F5344CB8AC3E}">
        <p14:creationId xmlns:p14="http://schemas.microsoft.com/office/powerpoint/2010/main" val="654874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Types Of Variables</a:t>
            </a:r>
            <a:endParaRPr lang="en-IN" dirty="0"/>
          </a:p>
        </p:txBody>
      </p:sp>
      <p:sp>
        <p:nvSpPr>
          <p:cNvPr id="3" name="Content Placeholder 2"/>
          <p:cNvSpPr>
            <a:spLocks noGrp="1"/>
          </p:cNvSpPr>
          <p:nvPr>
            <p:ph idx="1"/>
          </p:nvPr>
        </p:nvSpPr>
        <p:spPr>
          <a:xfrm>
            <a:off x="677334" y="1695451"/>
            <a:ext cx="8596668" cy="4345912"/>
          </a:xfrm>
        </p:spPr>
        <p:txBody>
          <a:bodyPr/>
          <a:lstStyle/>
          <a:p>
            <a:pPr lvl="0"/>
            <a:r>
              <a:rPr lang="en-US" sz="2000" b="1" dirty="0"/>
              <a:t>Local variables: </a:t>
            </a:r>
            <a:r>
              <a:rPr lang="en-US" sz="2000" dirty="0"/>
              <a:t>Variables defined inside methods, constructors or blocks are called local variables. The variable will be declared and initialized within the method and the variable will be destroyed when the method has completed.</a:t>
            </a:r>
            <a:endParaRPr lang="en-IN" sz="2000" dirty="0"/>
          </a:p>
          <a:p>
            <a:pPr lvl="0"/>
            <a:r>
              <a:rPr lang="en-US" sz="2000" b="1" dirty="0" smtClean="0"/>
              <a:t>Instance/Global </a:t>
            </a:r>
            <a:r>
              <a:rPr lang="en-US" sz="2000" b="1" dirty="0"/>
              <a:t>variables: </a:t>
            </a:r>
            <a:r>
              <a:rPr lang="en-US" sz="2000" dirty="0"/>
              <a:t>Instance variables are variables within a class but outside any method. These variables are initialized when the class is instantiated. Instance variables can be accessed from inside any method, constructor or blocks of that particular class.</a:t>
            </a:r>
            <a:endParaRPr lang="en-IN" sz="2000" dirty="0"/>
          </a:p>
          <a:p>
            <a:pPr lvl="0"/>
            <a:r>
              <a:rPr lang="en-US" sz="2000" b="1" dirty="0" smtClean="0"/>
              <a:t>Static </a:t>
            </a:r>
            <a:r>
              <a:rPr lang="en-US" sz="2000" b="1" dirty="0"/>
              <a:t>variables: </a:t>
            </a:r>
            <a:r>
              <a:rPr lang="en-US" sz="2000" dirty="0"/>
              <a:t>Class variables are variables declared </a:t>
            </a:r>
            <a:r>
              <a:rPr lang="en-US" sz="2000" dirty="0" smtClean="0"/>
              <a:t>within </a:t>
            </a:r>
            <a:r>
              <a:rPr lang="en-US" sz="2000" dirty="0"/>
              <a:t>a class, outside any method, with the static </a:t>
            </a:r>
            <a:r>
              <a:rPr lang="en-US" sz="2000" dirty="0" smtClean="0"/>
              <a:t>keyword is called as Static variable</a:t>
            </a:r>
            <a:endParaRPr lang="en-IN" sz="2000" dirty="0"/>
          </a:p>
          <a:p>
            <a:pPr marL="0" indent="0">
              <a:buNone/>
            </a:pPr>
            <a:endParaRPr lang="en-IN" dirty="0"/>
          </a:p>
        </p:txBody>
      </p:sp>
    </p:spTree>
    <p:extLst>
      <p:ext uri="{BB962C8B-B14F-4D97-AF65-F5344CB8AC3E}">
        <p14:creationId xmlns:p14="http://schemas.microsoft.com/office/powerpoint/2010/main" val="2927892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94285"/>
            <a:ext cx="8596668" cy="847286"/>
          </a:xfrm>
        </p:spPr>
        <p:txBody>
          <a:bodyPr>
            <a:normAutofit fontScale="90000"/>
          </a:bodyPr>
          <a:lstStyle/>
          <a:p>
            <a:r>
              <a:rPr lang="en-US" dirty="0" smtClean="0"/>
              <a:t>           What is  mean by class and object ?</a:t>
            </a:r>
            <a:endParaRPr lang="en-IN" dirty="0"/>
          </a:p>
        </p:txBody>
      </p:sp>
      <p:sp>
        <p:nvSpPr>
          <p:cNvPr id="3" name="Content Placeholder 2"/>
          <p:cNvSpPr>
            <a:spLocks noGrp="1"/>
          </p:cNvSpPr>
          <p:nvPr>
            <p:ph idx="1"/>
          </p:nvPr>
        </p:nvSpPr>
        <p:spPr>
          <a:xfrm>
            <a:off x="310393" y="1451295"/>
            <a:ext cx="9991288" cy="4514567"/>
          </a:xfrm>
        </p:spPr>
        <p:txBody>
          <a:bodyPr>
            <a:normAutofit/>
          </a:bodyPr>
          <a:lstStyle/>
          <a:p>
            <a:r>
              <a:rPr lang="en-US" sz="2400" b="1" dirty="0"/>
              <a:t>Class</a:t>
            </a:r>
            <a:r>
              <a:rPr lang="en-US" sz="2000" b="1" dirty="0"/>
              <a:t> :- </a:t>
            </a:r>
            <a:r>
              <a:rPr lang="en-US" dirty="0"/>
              <a:t>Class is logical </a:t>
            </a:r>
            <a:r>
              <a:rPr lang="en-US" dirty="0" smtClean="0"/>
              <a:t>entity , blueprint .. or we can say class is collection of items..</a:t>
            </a:r>
          </a:p>
          <a:p>
            <a:pPr marL="0" indent="0">
              <a:buNone/>
            </a:pPr>
            <a:r>
              <a:rPr lang="en-US" dirty="0" smtClean="0"/>
              <a:t>Collection of items means it includes more than one items , or multiple items , class is able to hold  all data but logically, that’s why we can say its logical entity..</a:t>
            </a:r>
            <a:endParaRPr lang="en-US" dirty="0"/>
          </a:p>
          <a:p>
            <a:pPr marL="0" indent="0">
              <a:buNone/>
            </a:pPr>
            <a:r>
              <a:rPr lang="en-US" dirty="0" smtClean="0"/>
              <a:t>For ex: Class Abc</a:t>
            </a:r>
          </a:p>
          <a:p>
            <a:pPr marL="0" indent="0">
              <a:buNone/>
            </a:pPr>
            <a:r>
              <a:rPr lang="en-US" dirty="0" smtClean="0"/>
              <a:t>          {</a:t>
            </a:r>
          </a:p>
          <a:p>
            <a:pPr marL="0" indent="0">
              <a:buNone/>
            </a:pPr>
            <a:r>
              <a:rPr lang="en-US" dirty="0" smtClean="0"/>
              <a:t>           // it hold data logically..</a:t>
            </a:r>
          </a:p>
          <a:p>
            <a:pPr marL="0" indent="0">
              <a:buNone/>
            </a:pPr>
            <a:r>
              <a:rPr lang="en-US" dirty="0" smtClean="0"/>
              <a:t>         }</a:t>
            </a:r>
          </a:p>
          <a:p>
            <a:pPr marL="0" indent="0">
              <a:buNone/>
            </a:pPr>
            <a:r>
              <a:rPr lang="en-US" sz="2400" b="1" dirty="0" smtClean="0"/>
              <a:t>Object</a:t>
            </a:r>
            <a:r>
              <a:rPr lang="en-US" b="1" dirty="0" smtClean="0"/>
              <a:t> :- </a:t>
            </a:r>
            <a:r>
              <a:rPr lang="en-US" dirty="0" smtClean="0"/>
              <a:t>Object</a:t>
            </a:r>
            <a:r>
              <a:rPr lang="en-US" b="1" dirty="0" smtClean="0"/>
              <a:t> </a:t>
            </a:r>
            <a:r>
              <a:rPr lang="en-US" dirty="0"/>
              <a:t>is </a:t>
            </a:r>
            <a:r>
              <a:rPr lang="en-US" dirty="0" smtClean="0"/>
              <a:t>real </a:t>
            </a:r>
            <a:r>
              <a:rPr lang="en-US" dirty="0"/>
              <a:t>time </a:t>
            </a:r>
            <a:r>
              <a:rPr lang="en-US" dirty="0" smtClean="0"/>
              <a:t>entity , its </a:t>
            </a:r>
            <a:r>
              <a:rPr lang="en-US" dirty="0"/>
              <a:t>physically exist inside the memory</a:t>
            </a:r>
            <a:r>
              <a:rPr lang="en-US" dirty="0" smtClean="0"/>
              <a:t>.</a:t>
            </a:r>
          </a:p>
          <a:p>
            <a:pPr marL="0" indent="0">
              <a:buNone/>
            </a:pPr>
            <a:r>
              <a:rPr lang="en-US" dirty="0"/>
              <a:t> </a:t>
            </a:r>
            <a:r>
              <a:rPr lang="en-US" dirty="0" smtClean="0"/>
              <a:t> means in memory object can occupy some space physically that is the reason object are real time or physical entity or run time entity..</a:t>
            </a:r>
          </a:p>
          <a:p>
            <a:pPr marL="0" indent="0">
              <a:buNone/>
            </a:pPr>
            <a:r>
              <a:rPr lang="en-US" dirty="0" smtClean="0"/>
              <a:t>For ex: </a:t>
            </a:r>
            <a:r>
              <a:rPr lang="en-US" dirty="0" err="1" smtClean="0"/>
              <a:t>Abc</a:t>
            </a:r>
            <a:r>
              <a:rPr lang="en-US" smtClean="0"/>
              <a:t> a1=new </a:t>
            </a:r>
            <a:r>
              <a:rPr lang="en-US" dirty="0" smtClean="0"/>
              <a:t>Abc();//in heap memory obj stored..</a:t>
            </a:r>
            <a:endParaRPr lang="en-IN" dirty="0"/>
          </a:p>
        </p:txBody>
      </p:sp>
    </p:spTree>
    <p:extLst>
      <p:ext uri="{BB962C8B-B14F-4D97-AF65-F5344CB8AC3E}">
        <p14:creationId xmlns:p14="http://schemas.microsoft.com/office/powerpoint/2010/main" val="29927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7112"/>
            <a:ext cx="8596668" cy="838899"/>
          </a:xfrm>
        </p:spPr>
        <p:txBody>
          <a:bodyPr>
            <a:normAutofit/>
          </a:bodyPr>
          <a:lstStyle/>
          <a:p>
            <a:pPr algn="ctr"/>
            <a:r>
              <a:rPr lang="en-US" sz="4000" dirty="0" smtClean="0"/>
              <a:t>Constructor</a:t>
            </a:r>
            <a:endParaRPr lang="en-IN" sz="4000" dirty="0"/>
          </a:p>
        </p:txBody>
      </p:sp>
      <p:sp>
        <p:nvSpPr>
          <p:cNvPr id="3" name="Content Placeholder 2"/>
          <p:cNvSpPr>
            <a:spLocks noGrp="1"/>
          </p:cNvSpPr>
          <p:nvPr>
            <p:ph idx="1"/>
          </p:nvPr>
        </p:nvSpPr>
        <p:spPr>
          <a:xfrm>
            <a:off x="677334" y="645952"/>
            <a:ext cx="8596668" cy="5395411"/>
          </a:xfrm>
        </p:spPr>
        <p:txBody>
          <a:bodyPr>
            <a:normAutofit fontScale="92500" lnSpcReduction="10000"/>
          </a:bodyPr>
          <a:lstStyle/>
          <a:p>
            <a:r>
              <a:rPr lang="en-US" dirty="0" smtClean="0"/>
              <a:t>In Java, a constructor is a member function of class,</a:t>
            </a:r>
          </a:p>
          <a:p>
            <a:r>
              <a:rPr lang="en-US" dirty="0" smtClean="0"/>
              <a:t>All The Classes Have default constructor in java.</a:t>
            </a:r>
          </a:p>
          <a:p>
            <a:r>
              <a:rPr lang="en-US" dirty="0" smtClean="0"/>
              <a:t>It has no return type.</a:t>
            </a:r>
          </a:p>
          <a:p>
            <a:r>
              <a:rPr lang="en-US" dirty="0" smtClean="0"/>
              <a:t>When there is no constructor defined in the class by the programmer, the compiler implicitly provides a default constructor for the class.</a:t>
            </a:r>
          </a:p>
          <a:p>
            <a:r>
              <a:rPr lang="en-US" dirty="0" smtClean="0"/>
              <a:t>Whenever we creating an instance of the class using new keyword by default</a:t>
            </a:r>
          </a:p>
          <a:p>
            <a:pPr marL="0" indent="0">
              <a:buNone/>
            </a:pPr>
            <a:r>
              <a:rPr lang="en-US" dirty="0" smtClean="0"/>
              <a:t>Constructor getting called.</a:t>
            </a:r>
          </a:p>
          <a:p>
            <a:pPr marL="0" indent="0">
              <a:buNone/>
            </a:pPr>
            <a:r>
              <a:rPr lang="en-US" sz="2000" b="1" dirty="0" smtClean="0"/>
              <a:t>Syntax:-</a:t>
            </a:r>
          </a:p>
          <a:p>
            <a:pPr marL="0" indent="0">
              <a:buNone/>
            </a:pPr>
            <a:r>
              <a:rPr lang="en-US" b="1" dirty="0"/>
              <a:t> </a:t>
            </a:r>
            <a:r>
              <a:rPr lang="en-US" b="1" dirty="0" smtClean="0"/>
              <a:t>  </a:t>
            </a:r>
            <a:r>
              <a:rPr lang="en-US" dirty="0" smtClean="0"/>
              <a:t>class Hello</a:t>
            </a:r>
          </a:p>
          <a:p>
            <a:pPr marL="0" indent="0">
              <a:buNone/>
            </a:pPr>
            <a:r>
              <a:rPr lang="en-US" dirty="0" smtClean="0"/>
              <a:t>{</a:t>
            </a:r>
          </a:p>
          <a:p>
            <a:pPr marL="0" indent="0">
              <a:buNone/>
            </a:pPr>
            <a:r>
              <a:rPr lang="en-US" dirty="0"/>
              <a:t> </a:t>
            </a:r>
            <a:r>
              <a:rPr lang="en-US" dirty="0" smtClean="0"/>
              <a:t>  Hello()</a:t>
            </a:r>
          </a:p>
          <a:p>
            <a:pPr marL="0" indent="0">
              <a:buNone/>
            </a:pPr>
            <a:r>
              <a:rPr lang="en-US" dirty="0" smtClean="0"/>
              <a:t>{</a:t>
            </a:r>
          </a:p>
          <a:p>
            <a:pPr marL="0" indent="0">
              <a:buNone/>
            </a:pPr>
            <a:r>
              <a:rPr lang="en-US" dirty="0" smtClean="0"/>
              <a:t>//constructor body..</a:t>
            </a:r>
          </a:p>
          <a:p>
            <a:pPr marL="0" indent="0">
              <a:buNone/>
            </a:pPr>
            <a:r>
              <a:rPr lang="en-US" dirty="0"/>
              <a:t>}</a:t>
            </a:r>
            <a:endParaRPr lang="en-US" dirty="0" smtClean="0"/>
          </a:p>
          <a:p>
            <a:pPr marL="0" indent="0">
              <a:buNone/>
            </a:pPr>
            <a:r>
              <a:rPr lang="en-US" dirty="0" smtClean="0"/>
              <a:t>}</a:t>
            </a:r>
          </a:p>
          <a:p>
            <a:pPr marL="0" indent="0">
              <a:buNone/>
            </a:pPr>
            <a:endParaRPr lang="en-IN" dirty="0"/>
          </a:p>
        </p:txBody>
      </p:sp>
    </p:spTree>
    <p:extLst>
      <p:ext uri="{BB962C8B-B14F-4D97-AF65-F5344CB8AC3E}">
        <p14:creationId xmlns:p14="http://schemas.microsoft.com/office/powerpoint/2010/main" val="2341161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9058"/>
            <a:ext cx="8596668" cy="830510"/>
          </a:xfrm>
        </p:spPr>
        <p:txBody>
          <a:bodyPr/>
          <a:lstStyle/>
          <a:p>
            <a:r>
              <a:rPr lang="en-US" dirty="0" smtClean="0"/>
              <a:t>           Types Of Constructor</a:t>
            </a:r>
            <a:endParaRPr lang="en-IN" dirty="0"/>
          </a:p>
        </p:txBody>
      </p:sp>
      <p:sp>
        <p:nvSpPr>
          <p:cNvPr id="3" name="Content Placeholder 2"/>
          <p:cNvSpPr>
            <a:spLocks noGrp="1"/>
          </p:cNvSpPr>
          <p:nvPr>
            <p:ph idx="1"/>
          </p:nvPr>
        </p:nvSpPr>
        <p:spPr>
          <a:xfrm>
            <a:off x="677334" y="998291"/>
            <a:ext cx="8596668" cy="5043072"/>
          </a:xfrm>
        </p:spPr>
        <p:txBody>
          <a:bodyPr>
            <a:normAutofit lnSpcReduction="10000"/>
          </a:bodyPr>
          <a:lstStyle/>
          <a:p>
            <a:r>
              <a:rPr lang="en-US" b="1" dirty="0" smtClean="0"/>
              <a:t>There are two types of Constructor:</a:t>
            </a:r>
          </a:p>
          <a:p>
            <a:pPr>
              <a:buFont typeface="Arial" pitchFamily="34" charset="0"/>
              <a:buChar char="•"/>
            </a:pPr>
            <a:r>
              <a:rPr lang="en-US" b="1" dirty="0" smtClean="0"/>
              <a:t>1.Default Constructor</a:t>
            </a:r>
          </a:p>
          <a:p>
            <a:pPr>
              <a:buFont typeface="Arial" pitchFamily="34" charset="0"/>
              <a:buChar char="•"/>
            </a:pPr>
            <a:r>
              <a:rPr lang="en-US" b="1" dirty="0" smtClean="0"/>
              <a:t>2.Parameterrized Constructor.</a:t>
            </a:r>
          </a:p>
          <a:p>
            <a:pPr marL="0" indent="0">
              <a:buNone/>
            </a:pPr>
            <a:r>
              <a:rPr lang="en-US" b="1" dirty="0" smtClean="0"/>
              <a:t>Default Constructor</a:t>
            </a:r>
          </a:p>
          <a:p>
            <a:pPr>
              <a:buFont typeface="Arial" pitchFamily="34" charset="0"/>
              <a:buChar char="•"/>
            </a:pPr>
            <a:r>
              <a:rPr lang="en-US" dirty="0" smtClean="0"/>
              <a:t>A constructor that accepts no arguments/parameters , such constructor called default constructor.</a:t>
            </a:r>
          </a:p>
          <a:p>
            <a:pPr>
              <a:buFont typeface="Arial" pitchFamily="34" charset="0"/>
              <a:buChar char="•"/>
            </a:pPr>
            <a:r>
              <a:rPr lang="en-US" dirty="0" smtClean="0"/>
              <a:t>It is also called as no argument constructor.</a:t>
            </a:r>
          </a:p>
          <a:p>
            <a:pPr>
              <a:buFont typeface="Arial" pitchFamily="34" charset="0"/>
              <a:buChar char="•"/>
            </a:pPr>
            <a:r>
              <a:rPr lang="en-US" dirty="0" smtClean="0"/>
              <a:t>A default constructor in java is created by compiler itself when the programmer doesn’t create any constructor.</a:t>
            </a:r>
            <a:endParaRPr lang="en-US" dirty="0"/>
          </a:p>
          <a:p>
            <a:pPr marL="0" indent="0">
              <a:buNone/>
            </a:pPr>
            <a:r>
              <a:rPr lang="en-US" b="1" dirty="0" smtClean="0"/>
              <a:t>Parameterized Constructor  </a:t>
            </a:r>
          </a:p>
          <a:p>
            <a:pPr>
              <a:buFont typeface="Arial" pitchFamily="34" charset="0"/>
              <a:buChar char="•"/>
            </a:pPr>
            <a:r>
              <a:rPr lang="en-US" dirty="0" smtClean="0"/>
              <a:t>A constructor that accept one or more parameter is known as parameterized</a:t>
            </a:r>
          </a:p>
          <a:p>
            <a:pPr marL="0" indent="0">
              <a:buNone/>
            </a:pPr>
            <a:r>
              <a:rPr lang="en-US" dirty="0" smtClean="0"/>
              <a:t>Constructor.</a:t>
            </a:r>
          </a:p>
          <a:p>
            <a:pPr>
              <a:buFont typeface="Arial" pitchFamily="34" charset="0"/>
              <a:buChar char="•"/>
            </a:pPr>
            <a:r>
              <a:rPr lang="en-US" dirty="0" smtClean="0"/>
              <a:t>When we create parameterized constructor, we need to pass the argument so</a:t>
            </a:r>
          </a:p>
          <a:p>
            <a:pPr>
              <a:buFont typeface="Arial" pitchFamily="34" charset="0"/>
              <a:buChar char="•"/>
            </a:pPr>
            <a:r>
              <a:rPr lang="en-US" dirty="0" smtClean="0"/>
              <a:t>That this constructor get invoked after creation </a:t>
            </a:r>
            <a:r>
              <a:rPr lang="en-US" smtClean="0"/>
              <a:t>of object.</a:t>
            </a:r>
            <a:endParaRPr lang="en-IN" dirty="0"/>
          </a:p>
        </p:txBody>
      </p:sp>
    </p:spTree>
    <p:extLst>
      <p:ext uri="{BB962C8B-B14F-4D97-AF65-F5344CB8AC3E}">
        <p14:creationId xmlns:p14="http://schemas.microsoft.com/office/powerpoint/2010/main" val="204194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ASSIGNMENTS</a:t>
            </a:r>
            <a:endParaRPr lang="en-IN" dirty="0"/>
          </a:p>
        </p:txBody>
      </p:sp>
      <p:sp>
        <p:nvSpPr>
          <p:cNvPr id="3" name="Content Placeholder 2"/>
          <p:cNvSpPr>
            <a:spLocks noGrp="1"/>
          </p:cNvSpPr>
          <p:nvPr>
            <p:ph idx="1"/>
          </p:nvPr>
        </p:nvSpPr>
        <p:spPr/>
        <p:txBody>
          <a:bodyPr/>
          <a:lstStyle/>
          <a:p>
            <a:r>
              <a:rPr lang="en-IN" dirty="0"/>
              <a:t>Fibonacci Series in Java.</a:t>
            </a:r>
          </a:p>
          <a:p>
            <a:r>
              <a:rPr lang="en-IN" dirty="0"/>
              <a:t>Prime Number Program in Java.</a:t>
            </a:r>
          </a:p>
          <a:p>
            <a:r>
              <a:rPr lang="en-IN" dirty="0"/>
              <a:t>Palindrome Program in Java.</a:t>
            </a:r>
          </a:p>
          <a:p>
            <a:r>
              <a:rPr lang="en-IN" dirty="0"/>
              <a:t>Factorial Program in Java.</a:t>
            </a:r>
          </a:p>
          <a:p>
            <a:r>
              <a:rPr lang="en-IN" dirty="0"/>
              <a:t>Armstrong Number in Java.</a:t>
            </a:r>
          </a:p>
          <a:p>
            <a:r>
              <a:rPr lang="en-IN" dirty="0"/>
              <a:t>How to Generate Random Number in Java</a:t>
            </a:r>
            <a:r>
              <a:rPr lang="en-IN" dirty="0" smtClean="0"/>
              <a:t>.</a:t>
            </a:r>
            <a:endParaRPr lang="en-IN" dirty="0"/>
          </a:p>
          <a:p>
            <a:r>
              <a:rPr lang="en-IN" dirty="0"/>
              <a:t>How to Compare Two Objects in Java.</a:t>
            </a:r>
          </a:p>
        </p:txBody>
      </p:sp>
    </p:spTree>
    <p:extLst>
      <p:ext uri="{BB962C8B-B14F-4D97-AF65-F5344CB8AC3E}">
        <p14:creationId xmlns:p14="http://schemas.microsoft.com/office/powerpoint/2010/main" val="3579252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Patterns</a:t>
            </a:r>
          </a:p>
        </p:txBody>
      </p:sp>
      <p:sp>
        <p:nvSpPr>
          <p:cNvPr id="3" name="Content Placeholder 2"/>
          <p:cNvSpPr>
            <a:spLocks noGrp="1"/>
          </p:cNvSpPr>
          <p:nvPr>
            <p:ph idx="1"/>
          </p:nvPr>
        </p:nvSpPr>
        <p:spPr/>
        <p:txBody>
          <a:bodyPr/>
          <a:lstStyle/>
          <a:p>
            <a:r>
              <a:rPr lang="en-US" dirty="0" smtClean="0"/>
              <a:t>Increment Triangle</a:t>
            </a:r>
            <a:endParaRPr lang="en-IN" dirty="0"/>
          </a:p>
          <a:p>
            <a:r>
              <a:rPr lang="en-IN" dirty="0"/>
              <a:t>Decreamental Triangle</a:t>
            </a:r>
          </a:p>
          <a:p>
            <a:r>
              <a:rPr lang="en-IN" dirty="0" smtClean="0"/>
              <a:t>Left &amp; Right-Incremental </a:t>
            </a:r>
            <a:r>
              <a:rPr lang="en-IN" dirty="0"/>
              <a:t>Triangle</a:t>
            </a:r>
          </a:p>
          <a:p>
            <a:r>
              <a:rPr lang="en-IN" dirty="0" smtClean="0"/>
              <a:t>Left &amp; Right-Decrement Triangle</a:t>
            </a:r>
            <a:endParaRPr lang="en-IN" dirty="0"/>
          </a:p>
          <a:p>
            <a:r>
              <a:rPr lang="en-US" dirty="0" smtClean="0"/>
              <a:t>Diamond</a:t>
            </a:r>
            <a:endParaRPr lang="en-IN" dirty="0"/>
          </a:p>
          <a:p>
            <a:r>
              <a:rPr lang="en-US" dirty="0" smtClean="0"/>
              <a:t>Signs Shapes Pattern</a:t>
            </a:r>
            <a:endParaRPr lang="en-IN" dirty="0"/>
          </a:p>
          <a:p>
            <a:r>
              <a:rPr lang="en-US" dirty="0" smtClean="0"/>
              <a:t>Alphabet Increment &amp; Decrement Triangle</a:t>
            </a:r>
            <a:endParaRPr lang="en-IN" dirty="0"/>
          </a:p>
        </p:txBody>
      </p:sp>
    </p:spTree>
    <p:extLst>
      <p:ext uri="{BB962C8B-B14F-4D97-AF65-F5344CB8AC3E}">
        <p14:creationId xmlns:p14="http://schemas.microsoft.com/office/powerpoint/2010/main" val="4242422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6000" dirty="0" smtClean="0"/>
              <a:t>SCANNER</a:t>
            </a:r>
            <a:endParaRPr lang="en-IN" sz="6000" dirty="0"/>
          </a:p>
        </p:txBody>
      </p:sp>
      <p:sp>
        <p:nvSpPr>
          <p:cNvPr id="3" name="Content Placeholder 2"/>
          <p:cNvSpPr>
            <a:spLocks noGrp="1"/>
          </p:cNvSpPr>
          <p:nvPr>
            <p:ph idx="1"/>
          </p:nvPr>
        </p:nvSpPr>
        <p:spPr/>
        <p:txBody>
          <a:bodyPr>
            <a:noAutofit/>
          </a:bodyPr>
          <a:lstStyle/>
          <a:p>
            <a:r>
              <a:rPr lang="en-US" sz="1600" dirty="0" smtClean="0"/>
              <a:t>JAVA SCANNER :Is a predefine class is used when user put some value on console , for Scanner is used package is java.util.Scanner;</a:t>
            </a:r>
          </a:p>
          <a:p>
            <a:r>
              <a:rPr lang="en-US" sz="1600" dirty="0" smtClean="0"/>
              <a:t>JAVA SCANNER CLASS:-is predefine class in java. </a:t>
            </a:r>
          </a:p>
          <a:p>
            <a:r>
              <a:rPr lang="en-US" sz="1600" dirty="0" smtClean="0"/>
              <a:t>USE OF JAVA SCANNER :-to read the value from console and user can put data on console.</a:t>
            </a:r>
          </a:p>
          <a:p>
            <a:r>
              <a:rPr lang="en-US" sz="1600" dirty="0" smtClean="0"/>
              <a:t>JAVA SCANNER CLASS METHODS:-</a:t>
            </a:r>
          </a:p>
          <a:p>
            <a:pPr marL="0" indent="0">
              <a:buNone/>
            </a:pPr>
            <a:r>
              <a:rPr lang="en-US" sz="1600" dirty="0" smtClean="0"/>
              <a:t>Int- nextInt();</a:t>
            </a:r>
          </a:p>
          <a:p>
            <a:pPr marL="0" indent="0">
              <a:buNone/>
            </a:pPr>
            <a:r>
              <a:rPr lang="en-US" sz="1600" dirty="0" smtClean="0"/>
              <a:t>String-next();</a:t>
            </a:r>
          </a:p>
          <a:p>
            <a:pPr marL="0" indent="0">
              <a:buNone/>
            </a:pPr>
            <a:r>
              <a:rPr lang="en-US" sz="1600" dirty="0" smtClean="0"/>
              <a:t>Char-next().CharAt();</a:t>
            </a:r>
          </a:p>
          <a:p>
            <a:pPr marL="0" indent="0">
              <a:buNone/>
            </a:pPr>
            <a:r>
              <a:rPr lang="en-US" sz="1600" dirty="0" smtClean="0"/>
              <a:t>Float-next Float();</a:t>
            </a:r>
          </a:p>
          <a:p>
            <a:pPr marL="0" indent="0">
              <a:buNone/>
            </a:pPr>
            <a:r>
              <a:rPr lang="en-US" sz="1600" dirty="0" smtClean="0"/>
              <a:t>Long- nextLong();</a:t>
            </a:r>
          </a:p>
          <a:p>
            <a:pPr marL="0" indent="0">
              <a:buNone/>
            </a:pPr>
            <a:r>
              <a:rPr lang="en-US" sz="1600" dirty="0" smtClean="0"/>
              <a:t>Double- nextDouble();</a:t>
            </a:r>
          </a:p>
          <a:p>
            <a:pPr marL="0" indent="0">
              <a:buNone/>
            </a:pPr>
            <a:r>
              <a:rPr lang="en-US" sz="1600" dirty="0" smtClean="0"/>
              <a:t>Short-</a:t>
            </a:r>
            <a:r>
              <a:rPr lang="en-US" sz="1600" dirty="0" err="1" smtClean="0"/>
              <a:t>nextShort</a:t>
            </a:r>
            <a:r>
              <a:rPr lang="en-US" sz="1600" dirty="0" smtClean="0"/>
              <a:t>();</a:t>
            </a:r>
          </a:p>
          <a:p>
            <a:pPr marL="0" indent="0">
              <a:buNone/>
            </a:pPr>
            <a:endParaRPr lang="en-US" sz="1600" dirty="0" smtClean="0"/>
          </a:p>
          <a:p>
            <a:pPr marL="0" indent="0">
              <a:buNone/>
            </a:pPr>
            <a:endParaRPr lang="en-IN" sz="1600" dirty="0"/>
          </a:p>
        </p:txBody>
      </p:sp>
    </p:spTree>
    <p:extLst>
      <p:ext uri="{BB962C8B-B14F-4D97-AF65-F5344CB8AC3E}">
        <p14:creationId xmlns:p14="http://schemas.microsoft.com/office/powerpoint/2010/main" val="2903226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39366"/>
          </a:xfrm>
        </p:spPr>
        <p:txBody>
          <a:bodyPr/>
          <a:lstStyle/>
          <a:p>
            <a:r>
              <a:rPr lang="en-US" dirty="0" smtClean="0"/>
              <a:t>Array Of Java</a:t>
            </a:r>
            <a:endParaRPr lang="en-IN" dirty="0"/>
          </a:p>
        </p:txBody>
      </p:sp>
      <p:sp>
        <p:nvSpPr>
          <p:cNvPr id="3" name="Content Placeholder 2"/>
          <p:cNvSpPr>
            <a:spLocks noGrp="1"/>
          </p:cNvSpPr>
          <p:nvPr>
            <p:ph idx="1"/>
          </p:nvPr>
        </p:nvSpPr>
        <p:spPr>
          <a:xfrm>
            <a:off x="677334" y="1348966"/>
            <a:ext cx="8596668" cy="5287224"/>
          </a:xfrm>
        </p:spPr>
        <p:txBody>
          <a:bodyPr>
            <a:normAutofit fontScale="77500" lnSpcReduction="20000"/>
          </a:bodyPr>
          <a:lstStyle/>
          <a:p>
            <a:r>
              <a:rPr lang="en-US" dirty="0"/>
              <a:t>Arrays Of Java:-Is Collection Of variable of simillar data type,Storing multiple value into a single variable with same datatype is called array</a:t>
            </a:r>
            <a:r>
              <a:rPr lang="en-US" dirty="0" smtClean="0"/>
              <a:t>.</a:t>
            </a:r>
          </a:p>
          <a:p>
            <a:pPr marL="0" indent="0">
              <a:buNone/>
            </a:pPr>
            <a:r>
              <a:rPr lang="en-US" dirty="0"/>
              <a:t>step </a:t>
            </a:r>
            <a:r>
              <a:rPr lang="en-US" dirty="0" smtClean="0"/>
              <a:t>1:decration </a:t>
            </a:r>
            <a:r>
              <a:rPr lang="en-US" dirty="0"/>
              <a:t>of an array</a:t>
            </a:r>
          </a:p>
          <a:p>
            <a:pPr marL="0" indent="0">
              <a:buNone/>
            </a:pPr>
            <a:r>
              <a:rPr lang="en-US" dirty="0"/>
              <a:t>  synatx: datatype arrayname[index</a:t>
            </a:r>
            <a:r>
              <a:rPr lang="en-US" dirty="0" smtClean="0"/>
              <a:t>];  e g </a:t>
            </a:r>
            <a:r>
              <a:rPr lang="en-US" dirty="0"/>
              <a:t>: int ary</a:t>
            </a:r>
            <a:r>
              <a:rPr lang="en-US" dirty="0" smtClean="0"/>
              <a:t>[];</a:t>
            </a:r>
          </a:p>
          <a:p>
            <a:pPr marL="0" indent="0">
              <a:buNone/>
            </a:pPr>
            <a:r>
              <a:rPr lang="en-US" dirty="0"/>
              <a:t>step 2:assign size to the array</a:t>
            </a:r>
          </a:p>
          <a:p>
            <a:pPr marL="0" indent="0">
              <a:buNone/>
            </a:pPr>
            <a:r>
              <a:rPr lang="en-US" dirty="0"/>
              <a:t>       syntax:  arrayname=new datatype[size</a:t>
            </a:r>
            <a:r>
              <a:rPr lang="en-US" dirty="0" smtClean="0"/>
              <a:t>]; </a:t>
            </a:r>
            <a:r>
              <a:rPr lang="en-US" dirty="0" err="1" smtClean="0"/>
              <a:t>e.g</a:t>
            </a:r>
            <a:r>
              <a:rPr lang="en-US" dirty="0"/>
              <a:t>:  ary=new int[5];</a:t>
            </a:r>
          </a:p>
          <a:p>
            <a:pPr marL="0" indent="0">
              <a:buNone/>
            </a:pPr>
            <a:r>
              <a:rPr lang="en-US" dirty="0" smtClean="0"/>
              <a:t>  </a:t>
            </a:r>
            <a:r>
              <a:rPr lang="en-US" dirty="0"/>
              <a:t>*combine step1 and step2:</a:t>
            </a:r>
          </a:p>
          <a:p>
            <a:pPr marL="0" indent="0">
              <a:buNone/>
            </a:pPr>
            <a:r>
              <a:rPr lang="en-US" dirty="0"/>
              <a:t>    eg: int ary[]=new int[5</a:t>
            </a:r>
            <a:r>
              <a:rPr lang="en-US" dirty="0" smtClean="0"/>
              <a:t>];</a:t>
            </a:r>
          </a:p>
          <a:p>
            <a:pPr marL="0" indent="0">
              <a:buNone/>
            </a:pPr>
            <a:r>
              <a:rPr lang="en-US" dirty="0"/>
              <a:t>*Assign values to the </a:t>
            </a:r>
            <a:r>
              <a:rPr lang="en-US" dirty="0" smtClean="0"/>
              <a:t>array:- </a:t>
            </a:r>
            <a:r>
              <a:rPr lang="en-US" dirty="0"/>
              <a:t>ary[]={34,65,12,77,82}</a:t>
            </a:r>
          </a:p>
          <a:p>
            <a:pPr marL="0" indent="0">
              <a:buNone/>
            </a:pPr>
            <a:r>
              <a:rPr lang="en-US" dirty="0"/>
              <a:t>       ary[0]=34;</a:t>
            </a:r>
          </a:p>
          <a:p>
            <a:pPr marL="0" indent="0">
              <a:buNone/>
            </a:pPr>
            <a:r>
              <a:rPr lang="en-US" dirty="0"/>
              <a:t>       ary[1]=65;</a:t>
            </a:r>
          </a:p>
          <a:p>
            <a:pPr marL="0" indent="0">
              <a:buNone/>
            </a:pPr>
            <a:r>
              <a:rPr lang="en-US" dirty="0"/>
              <a:t>       ary[2]=12;</a:t>
            </a:r>
          </a:p>
          <a:p>
            <a:pPr marL="0" indent="0">
              <a:buNone/>
            </a:pPr>
            <a:r>
              <a:rPr lang="en-US" dirty="0"/>
              <a:t>       ary[3]=77;</a:t>
            </a:r>
          </a:p>
          <a:p>
            <a:pPr marL="0" indent="0">
              <a:buNone/>
            </a:pPr>
            <a:r>
              <a:rPr lang="en-US" dirty="0"/>
              <a:t>       ary[4]=82</a:t>
            </a:r>
            <a:r>
              <a:rPr lang="en-US" dirty="0" smtClean="0"/>
              <a:t>;</a:t>
            </a:r>
          </a:p>
          <a:p>
            <a:pPr marL="0" indent="0">
              <a:buNone/>
            </a:pPr>
            <a:r>
              <a:rPr lang="en-US" dirty="0"/>
              <a:t> for(int </a:t>
            </a:r>
            <a:r>
              <a:rPr lang="en-US" dirty="0" err="1"/>
              <a:t>i</a:t>
            </a:r>
            <a:r>
              <a:rPr lang="en-US" dirty="0"/>
              <a:t>=0;i&lt;5;i++)</a:t>
            </a:r>
          </a:p>
          <a:p>
            <a:pPr marL="0" indent="0">
              <a:buNone/>
            </a:pPr>
            <a:r>
              <a:rPr lang="en-US" dirty="0"/>
              <a:t>       {</a:t>
            </a:r>
          </a:p>
          <a:p>
            <a:pPr marL="0" indent="0">
              <a:buNone/>
            </a:pPr>
            <a:r>
              <a:rPr lang="en-US" dirty="0"/>
              <a:t>       ary[</a:t>
            </a:r>
            <a:r>
              <a:rPr lang="en-US" dirty="0" err="1"/>
              <a:t>i</a:t>
            </a:r>
            <a:r>
              <a:rPr lang="en-US" dirty="0"/>
              <a:t>]=sc.nextInt();     </a:t>
            </a:r>
          </a:p>
          <a:p>
            <a:pPr marL="0" indent="0">
              <a:buNone/>
            </a:pPr>
            <a:r>
              <a:rPr lang="en-US" dirty="0"/>
              <a:t>       }</a:t>
            </a:r>
            <a:endParaRPr lang="en-US" dirty="0" smtClean="0"/>
          </a:p>
          <a:p>
            <a:pPr marL="0" indent="0">
              <a:buNone/>
            </a:pPr>
            <a:endParaRPr lang="en-US" dirty="0"/>
          </a:p>
        </p:txBody>
      </p:sp>
    </p:spTree>
    <p:extLst>
      <p:ext uri="{BB962C8B-B14F-4D97-AF65-F5344CB8AC3E}">
        <p14:creationId xmlns:p14="http://schemas.microsoft.com/office/powerpoint/2010/main" val="3994009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99177"/>
            <a:ext cx="8596668" cy="615636"/>
          </a:xfrm>
        </p:spPr>
        <p:txBody>
          <a:bodyPr>
            <a:normAutofit fontScale="90000"/>
          </a:bodyPr>
          <a:lstStyle/>
          <a:p>
            <a:r>
              <a:rPr lang="en-US" dirty="0" smtClean="0"/>
              <a:t>Continue…..</a:t>
            </a:r>
            <a:endParaRPr lang="en-IN" dirty="0"/>
          </a:p>
        </p:txBody>
      </p:sp>
      <p:sp>
        <p:nvSpPr>
          <p:cNvPr id="3" name="Content Placeholder 2"/>
          <p:cNvSpPr>
            <a:spLocks noGrp="1"/>
          </p:cNvSpPr>
          <p:nvPr>
            <p:ph idx="1"/>
          </p:nvPr>
        </p:nvSpPr>
        <p:spPr>
          <a:xfrm>
            <a:off x="867457" y="697118"/>
            <a:ext cx="8596668" cy="6002446"/>
          </a:xfrm>
        </p:spPr>
        <p:txBody>
          <a:bodyPr>
            <a:noAutofit/>
          </a:bodyPr>
          <a:lstStyle/>
          <a:p>
            <a:pPr>
              <a:buFont typeface="Wingdings" panose="05000000000000000000" pitchFamily="2" charset="2"/>
              <a:buChar char="§"/>
            </a:pPr>
            <a:r>
              <a:rPr lang="en-IN" sz="1600" dirty="0" smtClean="0"/>
              <a:t>Display </a:t>
            </a:r>
            <a:r>
              <a:rPr lang="en-IN" sz="1600" dirty="0"/>
              <a:t>array value</a:t>
            </a:r>
          </a:p>
          <a:p>
            <a:pPr marL="0" indent="0">
              <a:buNone/>
            </a:pPr>
            <a:r>
              <a:rPr lang="en-IN" sz="1600" dirty="0"/>
              <a:t> </a:t>
            </a:r>
            <a:r>
              <a:rPr lang="en-IN" sz="1600" dirty="0" smtClean="0"/>
              <a:t>System.out.print(</a:t>
            </a:r>
            <a:r>
              <a:rPr lang="en-IN" sz="1600" dirty="0" err="1" smtClean="0"/>
              <a:t>arrname</a:t>
            </a:r>
            <a:r>
              <a:rPr lang="en-IN" sz="1600" dirty="0" smtClean="0"/>
              <a:t>[</a:t>
            </a:r>
            <a:r>
              <a:rPr lang="en-IN" sz="1600" dirty="0" err="1" smtClean="0"/>
              <a:t>indexno</a:t>
            </a:r>
            <a:r>
              <a:rPr lang="en-IN" sz="1600" dirty="0"/>
              <a:t>]);</a:t>
            </a:r>
          </a:p>
          <a:p>
            <a:pPr marL="0" indent="0">
              <a:buNone/>
            </a:pPr>
            <a:r>
              <a:rPr lang="en-IN" sz="1600" dirty="0"/>
              <a:t> for(</a:t>
            </a:r>
            <a:r>
              <a:rPr lang="en-IN" sz="1600" dirty="0" err="1"/>
              <a:t>int</a:t>
            </a:r>
            <a:r>
              <a:rPr lang="en-IN" sz="1600" dirty="0"/>
              <a:t> </a:t>
            </a:r>
            <a:r>
              <a:rPr lang="en-IN" sz="1600" dirty="0" err="1"/>
              <a:t>i</a:t>
            </a:r>
            <a:r>
              <a:rPr lang="en-IN" sz="1600" dirty="0"/>
              <a:t>=0;i&lt;5;i++)</a:t>
            </a:r>
          </a:p>
          <a:p>
            <a:pPr marL="0" indent="0">
              <a:buNone/>
            </a:pPr>
            <a:r>
              <a:rPr lang="en-IN" sz="1600" dirty="0"/>
              <a:t> </a:t>
            </a:r>
            <a:r>
              <a:rPr lang="en-IN" sz="1600" dirty="0" smtClean="0"/>
              <a:t>{</a:t>
            </a:r>
          </a:p>
          <a:p>
            <a:pPr marL="0" indent="0">
              <a:buNone/>
            </a:pPr>
            <a:r>
              <a:rPr lang="en-IN" sz="1600" dirty="0" smtClean="0"/>
              <a:t> </a:t>
            </a:r>
            <a:r>
              <a:rPr lang="en-IN" sz="1600" dirty="0"/>
              <a:t>System.out.print(</a:t>
            </a:r>
            <a:r>
              <a:rPr lang="en-IN" sz="1600" dirty="0" err="1"/>
              <a:t>ary</a:t>
            </a:r>
            <a:r>
              <a:rPr lang="en-IN" sz="1600" dirty="0"/>
              <a:t>[</a:t>
            </a:r>
            <a:r>
              <a:rPr lang="en-IN" sz="1600" dirty="0" err="1"/>
              <a:t>i</a:t>
            </a:r>
            <a:r>
              <a:rPr lang="en-IN" sz="1600" dirty="0"/>
              <a:t>]);    </a:t>
            </a:r>
          </a:p>
          <a:p>
            <a:pPr marL="0" indent="0">
              <a:buNone/>
            </a:pPr>
            <a:r>
              <a:rPr lang="en-IN" sz="1600" dirty="0"/>
              <a:t> }</a:t>
            </a:r>
          </a:p>
          <a:p>
            <a:pPr marL="0" indent="0">
              <a:buNone/>
            </a:pPr>
            <a:r>
              <a:rPr lang="en-IN" sz="1600" dirty="0" smtClean="0"/>
              <a:t>Array </a:t>
            </a:r>
            <a:r>
              <a:rPr lang="en-IN" sz="1600" dirty="0"/>
              <a:t>Of Java:-  </a:t>
            </a:r>
          </a:p>
          <a:p>
            <a:pPr marL="0" indent="0">
              <a:buNone/>
            </a:pPr>
            <a:r>
              <a:rPr lang="en-IN" sz="1600" dirty="0"/>
              <a:t>Syntax:-</a:t>
            </a:r>
          </a:p>
          <a:p>
            <a:pPr marL="0" indent="0">
              <a:buNone/>
            </a:pPr>
            <a:r>
              <a:rPr lang="en-IN" sz="1600" dirty="0"/>
              <a:t>int a[]=new int[</a:t>
            </a:r>
            <a:r>
              <a:rPr lang="en-IN" sz="1600" dirty="0" err="1"/>
              <a:t>args.length</a:t>
            </a:r>
            <a:r>
              <a:rPr lang="en-IN" sz="1600" dirty="0"/>
              <a:t>]; </a:t>
            </a:r>
          </a:p>
          <a:p>
            <a:pPr marL="0" indent="0">
              <a:buNone/>
            </a:pPr>
            <a:r>
              <a:rPr lang="en-IN" sz="1600" dirty="0"/>
              <a:t>or</a:t>
            </a:r>
          </a:p>
          <a:p>
            <a:pPr marL="0" indent="0">
              <a:buNone/>
            </a:pPr>
            <a:r>
              <a:rPr lang="en-IN" sz="1600" dirty="0" smtClean="0"/>
              <a:t>int </a:t>
            </a:r>
            <a:r>
              <a:rPr lang="en-IN" sz="1600" dirty="0"/>
              <a:t>[]a;</a:t>
            </a:r>
          </a:p>
          <a:p>
            <a:pPr marL="0" indent="0">
              <a:buNone/>
            </a:pPr>
            <a:r>
              <a:rPr lang="en-IN" sz="1600" dirty="0"/>
              <a:t>a=new </a:t>
            </a:r>
            <a:r>
              <a:rPr lang="en-IN" sz="1600" dirty="0" err="1"/>
              <a:t>int</a:t>
            </a:r>
            <a:r>
              <a:rPr lang="en-IN" sz="1600" dirty="0"/>
              <a:t>[5];</a:t>
            </a:r>
          </a:p>
          <a:p>
            <a:pPr marL="0" indent="0">
              <a:buNone/>
            </a:pPr>
            <a:r>
              <a:rPr lang="en-IN" sz="1600" dirty="0" smtClean="0"/>
              <a:t>or</a:t>
            </a:r>
            <a:endParaRPr lang="en-IN" sz="1600" dirty="0"/>
          </a:p>
          <a:p>
            <a:pPr marL="0" indent="0">
              <a:buNone/>
            </a:pPr>
            <a:r>
              <a:rPr lang="en-IN" sz="1600" dirty="0"/>
              <a:t>int a[]={10,20,30,40,50};</a:t>
            </a:r>
          </a:p>
          <a:p>
            <a:pPr marL="0" indent="0">
              <a:buNone/>
            </a:pPr>
            <a:r>
              <a:rPr lang="en-IN" sz="1600" dirty="0" smtClean="0"/>
              <a:t>Syntax</a:t>
            </a:r>
            <a:r>
              <a:rPr lang="en-IN" sz="1600" dirty="0"/>
              <a:t>:- arrayname.length;</a:t>
            </a:r>
          </a:p>
          <a:p>
            <a:pPr marL="0" indent="0">
              <a:buNone/>
            </a:pPr>
            <a:r>
              <a:rPr lang="en-IN" sz="1600" dirty="0"/>
              <a:t>            a.length;</a:t>
            </a:r>
          </a:p>
        </p:txBody>
      </p:sp>
    </p:spTree>
    <p:extLst>
      <p:ext uri="{BB962C8B-B14F-4D97-AF65-F5344CB8AC3E}">
        <p14:creationId xmlns:p14="http://schemas.microsoft.com/office/powerpoint/2010/main" val="244714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6922" y="190121"/>
            <a:ext cx="8596668" cy="796706"/>
          </a:xfrm>
        </p:spPr>
        <p:txBody>
          <a:bodyPr>
            <a:normAutofit/>
          </a:bodyPr>
          <a:lstStyle/>
          <a:p>
            <a:pPr algn="ctr"/>
            <a:r>
              <a:rPr lang="en-US" dirty="0" smtClean="0"/>
              <a:t>Array Object Of Java</a:t>
            </a:r>
            <a:endParaRPr lang="en-IN" dirty="0"/>
          </a:p>
        </p:txBody>
      </p:sp>
      <p:sp>
        <p:nvSpPr>
          <p:cNvPr id="5" name="Content Placeholder 4"/>
          <p:cNvSpPr>
            <a:spLocks noGrp="1"/>
          </p:cNvSpPr>
          <p:nvPr>
            <p:ph idx="1"/>
          </p:nvPr>
        </p:nvSpPr>
        <p:spPr>
          <a:xfrm>
            <a:off x="377686" y="986826"/>
            <a:ext cx="10893877" cy="5871173"/>
          </a:xfrm>
        </p:spPr>
        <p:txBody>
          <a:bodyPr>
            <a:noAutofit/>
          </a:bodyPr>
          <a:lstStyle/>
          <a:p>
            <a:pPr>
              <a:buFont typeface="Wingdings" panose="05000000000000000000" pitchFamily="2" charset="2"/>
              <a:buChar char="§"/>
            </a:pPr>
            <a:r>
              <a:rPr lang="en-US" dirty="0"/>
              <a:t>Java is an object-oriented programming language. Most of the work done with the help of objects. We know that an array is a collection of the same data type that dynamically creates objects and can have elements of primitive types. Java allows us to store objects in an array. In Java, the class is also a user-defined data type. An array that </a:t>
            </a:r>
            <a:r>
              <a:rPr lang="en-US" dirty="0" smtClean="0"/>
              <a:t>collectiontions </a:t>
            </a:r>
            <a:r>
              <a:rPr lang="en-US" dirty="0"/>
              <a:t>class type elements </a:t>
            </a:r>
            <a:r>
              <a:rPr lang="en-US" dirty="0">
                <a:solidFill>
                  <a:schemeClr val="accent1"/>
                </a:solidFill>
              </a:rPr>
              <a:t>c</a:t>
            </a:r>
            <a:r>
              <a:rPr lang="en-US" dirty="0" smtClean="0">
                <a:solidFill>
                  <a:schemeClr val="accent1"/>
                </a:solidFill>
              </a:rPr>
              <a:t>reating arr</a:t>
            </a:r>
            <a:r>
              <a:rPr lang="en-US" dirty="0" smtClean="0"/>
              <a:t>ay </a:t>
            </a:r>
            <a:r>
              <a:rPr lang="en-US" dirty="0"/>
              <a:t>known as an array of objects. It stores the reference variable of the object</a:t>
            </a:r>
            <a:endParaRPr lang="en-US" dirty="0">
              <a:solidFill>
                <a:schemeClr val="accent1"/>
              </a:solidFill>
            </a:endParaRPr>
          </a:p>
          <a:p>
            <a:pPr>
              <a:buFont typeface="Wingdings" panose="05000000000000000000" pitchFamily="2" charset="2"/>
              <a:buChar char="§"/>
            </a:pPr>
            <a:r>
              <a:rPr lang="en-US" dirty="0" smtClean="0">
                <a:solidFill>
                  <a:schemeClr val="accent1"/>
                </a:solidFill>
              </a:rPr>
              <a:t>Array Of Objects:</a:t>
            </a:r>
            <a:r>
              <a:rPr lang="en-US" dirty="0" smtClean="0"/>
              <a:t>              </a:t>
            </a:r>
          </a:p>
          <a:p>
            <a:pPr marL="0" indent="0">
              <a:buNone/>
            </a:pPr>
            <a:r>
              <a:rPr lang="en-US" dirty="0" smtClean="0"/>
              <a:t> </a:t>
            </a:r>
            <a:r>
              <a:rPr lang="en-US" dirty="0"/>
              <a:t>Before creating an array of objects, we must create an instance of the class by using the new keyword. We can use any of the following statements to create an array </a:t>
            </a:r>
            <a:r>
              <a:rPr lang="en-US" dirty="0" smtClean="0"/>
              <a:t>of </a:t>
            </a:r>
            <a:r>
              <a:rPr lang="en-US" dirty="0"/>
              <a:t>objects</a:t>
            </a:r>
            <a:r>
              <a:rPr lang="en-US" dirty="0" smtClean="0"/>
              <a:t>.</a:t>
            </a:r>
          </a:p>
          <a:p>
            <a:pPr marL="0" indent="0">
              <a:buNone/>
            </a:pPr>
            <a:r>
              <a:rPr lang="en-US" dirty="0"/>
              <a:t>ClassName obj[]=</a:t>
            </a:r>
            <a:r>
              <a:rPr lang="en-US" b="1" dirty="0"/>
              <a:t>new</a:t>
            </a:r>
            <a:r>
              <a:rPr lang="en-US" dirty="0"/>
              <a:t> </a:t>
            </a:r>
            <a:r>
              <a:rPr lang="en-US" smtClean="0"/>
              <a:t>Class_Name</a:t>
            </a:r>
            <a:r>
              <a:rPr lang="en-US" dirty="0" smtClean="0"/>
              <a:t>[array </a:t>
            </a:r>
            <a:r>
              <a:rPr lang="en-US" dirty="0" smtClean="0"/>
              <a:t>_ length</a:t>
            </a:r>
            <a:r>
              <a:rPr lang="en-US" dirty="0"/>
              <a:t>]; //declare and instantiate an array of objects </a:t>
            </a:r>
            <a:endParaRPr lang="en-US" dirty="0" smtClean="0"/>
          </a:p>
          <a:p>
            <a:pPr marL="0" indent="0">
              <a:buNone/>
            </a:pPr>
            <a:r>
              <a:rPr lang="en-US" dirty="0" smtClean="0"/>
              <a:t>Or </a:t>
            </a:r>
            <a:r>
              <a:rPr lang="en-IN" dirty="0"/>
              <a:t>ClassName[] objArray; </a:t>
            </a:r>
            <a:r>
              <a:rPr lang="en-IN" dirty="0" smtClean="0"/>
              <a:t>  Or </a:t>
            </a:r>
            <a:r>
              <a:rPr lang="en-IN" dirty="0"/>
              <a:t>ClassName objeArray[];  </a:t>
            </a:r>
          </a:p>
          <a:p>
            <a:pPr marL="0" indent="0">
              <a:buNone/>
            </a:pPr>
            <a:r>
              <a:rPr lang="en-US" dirty="0"/>
              <a:t>Suppose, we have created a class named Employee. We want to keep records of 20 employees of a company having three departments. In this case, we will not create 20 separate variables. Instead of this, we will create an array of objects, as follows.</a:t>
            </a:r>
          </a:p>
          <a:p>
            <a:pPr marL="0" indent="0">
              <a:buNone/>
            </a:pPr>
            <a:r>
              <a:rPr lang="en-US" dirty="0"/>
              <a:t>Employee department1[20];  </a:t>
            </a:r>
          </a:p>
          <a:p>
            <a:pPr marL="0" indent="0">
              <a:buNone/>
            </a:pPr>
            <a:r>
              <a:rPr lang="en-US" dirty="0"/>
              <a:t>Employee department2[20];  </a:t>
            </a:r>
          </a:p>
          <a:p>
            <a:pPr marL="0" indent="0">
              <a:buNone/>
            </a:pPr>
            <a:r>
              <a:rPr lang="en-US" dirty="0"/>
              <a:t>Employee department3[20]; </a:t>
            </a:r>
          </a:p>
          <a:p>
            <a:pPr marL="0" indent="0">
              <a:buNone/>
            </a:pPr>
            <a:endParaRPr lang="en-US" dirty="0" smtClean="0"/>
          </a:p>
          <a:p>
            <a:pPr marL="0" indent="0">
              <a:buNone/>
            </a:pPr>
            <a:r>
              <a:rPr lang="en-US" dirty="0"/>
              <a:t> </a:t>
            </a:r>
            <a:r>
              <a:rPr lang="en-US" dirty="0" smtClean="0"/>
              <a:t> </a:t>
            </a:r>
            <a:endParaRPr lang="en-IN" dirty="0"/>
          </a:p>
        </p:txBody>
      </p:sp>
    </p:spTree>
    <p:extLst>
      <p:ext uri="{BB962C8B-B14F-4D97-AF65-F5344CB8AC3E}">
        <p14:creationId xmlns:p14="http://schemas.microsoft.com/office/powerpoint/2010/main" val="3779887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Digram Of Array Of Objects</a:t>
            </a:r>
            <a:endParaRPr lang="en-IN" dirty="0"/>
          </a:p>
        </p:txBody>
      </p:sp>
      <p:sp>
        <p:nvSpPr>
          <p:cNvPr id="6" name="Content Placeholder 2"/>
          <p:cNvSpPr>
            <a:spLocks noGrp="1"/>
          </p:cNvSpPr>
          <p:nvPr>
            <p:ph idx="1"/>
          </p:nvPr>
        </p:nvSpPr>
        <p:spPr>
          <a:xfrm>
            <a:off x="396677" y="1855961"/>
            <a:ext cx="8596668" cy="4488614"/>
          </a:xfrm>
        </p:spPr>
        <p:txBody>
          <a:bodyPr/>
          <a:lstStyle/>
          <a:p>
            <a:endParaRPr lang="en-IN" dirty="0"/>
          </a:p>
        </p:txBody>
      </p:sp>
      <p:pic>
        <p:nvPicPr>
          <p:cNvPr id="8" name="Picture 2" descr="How to Create Array of Objects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457" y="2021830"/>
            <a:ext cx="6797486"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101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ACCESS MODIFIER &amp; SPECIFIERS</a:t>
            </a:r>
            <a:endParaRPr lang="en-IN" dirty="0"/>
          </a:p>
        </p:txBody>
      </p:sp>
      <p:sp>
        <p:nvSpPr>
          <p:cNvPr id="3" name="Content Placeholder 2"/>
          <p:cNvSpPr>
            <a:spLocks noGrp="1"/>
          </p:cNvSpPr>
          <p:nvPr>
            <p:ph idx="1"/>
          </p:nvPr>
        </p:nvSpPr>
        <p:spPr/>
        <p:txBody>
          <a:bodyPr>
            <a:normAutofit/>
          </a:bodyPr>
          <a:lstStyle/>
          <a:p>
            <a:r>
              <a:rPr lang="en-US" dirty="0"/>
              <a:t>What Is Access Modifier Or </a:t>
            </a:r>
            <a:r>
              <a:rPr lang="en-US" dirty="0" err="1" smtClean="0"/>
              <a:t>Specifier</a:t>
            </a:r>
            <a:r>
              <a:rPr lang="en-US" dirty="0" smtClean="0"/>
              <a:t> </a:t>
            </a:r>
            <a:r>
              <a:rPr lang="en-US" dirty="0"/>
              <a:t>In </a:t>
            </a:r>
            <a:r>
              <a:rPr lang="en-US" dirty="0" smtClean="0"/>
              <a:t>Java.</a:t>
            </a:r>
            <a:endParaRPr lang="en-US" dirty="0"/>
          </a:p>
          <a:p>
            <a:r>
              <a:rPr lang="en-US" dirty="0"/>
              <a:t>Type Of Access </a:t>
            </a:r>
            <a:r>
              <a:rPr lang="en-US" dirty="0" smtClean="0"/>
              <a:t>Modifier(private, public , protected , default)</a:t>
            </a:r>
          </a:p>
          <a:p>
            <a:r>
              <a:rPr lang="en-US" dirty="0" smtClean="0"/>
              <a:t>Private </a:t>
            </a:r>
            <a:endParaRPr lang="en-US" dirty="0"/>
          </a:p>
          <a:p>
            <a:r>
              <a:rPr lang="en-US" dirty="0" smtClean="0"/>
              <a:t>Public </a:t>
            </a:r>
            <a:endParaRPr lang="en-US" dirty="0"/>
          </a:p>
          <a:p>
            <a:r>
              <a:rPr lang="en-US" dirty="0" smtClean="0"/>
              <a:t>Protected </a:t>
            </a:r>
          </a:p>
          <a:p>
            <a:r>
              <a:rPr lang="en-US" dirty="0" smtClean="0"/>
              <a:t>Default</a:t>
            </a:r>
            <a:r>
              <a:rPr lang="en-US" sz="2400" dirty="0" smtClean="0"/>
              <a:t> </a:t>
            </a:r>
            <a:endParaRPr lang="en-US" sz="2400" dirty="0"/>
          </a:p>
          <a:p>
            <a:endParaRPr lang="en-IN" dirty="0"/>
          </a:p>
        </p:txBody>
      </p:sp>
    </p:spTree>
    <p:extLst>
      <p:ext uri="{BB962C8B-B14F-4D97-AF65-F5344CB8AC3E}">
        <p14:creationId xmlns:p14="http://schemas.microsoft.com/office/powerpoint/2010/main" val="284969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smtClean="0"/>
              <a:t>JAVA ARRAY</a:t>
            </a:r>
            <a:endParaRPr lang="en-IN" sz="4400" dirty="0"/>
          </a:p>
        </p:txBody>
      </p:sp>
      <p:sp>
        <p:nvSpPr>
          <p:cNvPr id="3" name="Content Placeholder 2"/>
          <p:cNvSpPr>
            <a:spLocks noGrp="1"/>
          </p:cNvSpPr>
          <p:nvPr>
            <p:ph idx="1"/>
          </p:nvPr>
        </p:nvSpPr>
        <p:spPr/>
        <p:txBody>
          <a:bodyPr>
            <a:normAutofit/>
          </a:bodyPr>
          <a:lstStyle/>
          <a:p>
            <a:r>
              <a:rPr lang="en-US" dirty="0" smtClean="0"/>
              <a:t>Array Of Java</a:t>
            </a:r>
          </a:p>
          <a:p>
            <a:r>
              <a:rPr lang="en-US" dirty="0" smtClean="0"/>
              <a:t>How To Declare Array In Java ?</a:t>
            </a:r>
          </a:p>
          <a:p>
            <a:r>
              <a:rPr lang="en-US" dirty="0" smtClean="0"/>
              <a:t>One Dimensional Array</a:t>
            </a:r>
          </a:p>
          <a:p>
            <a:r>
              <a:rPr lang="en-US" dirty="0" smtClean="0"/>
              <a:t>Two Dimensional Array</a:t>
            </a:r>
            <a:endParaRPr lang="en-IN" dirty="0"/>
          </a:p>
        </p:txBody>
      </p:sp>
    </p:spTree>
    <p:extLst>
      <p:ext uri="{BB962C8B-B14F-4D97-AF65-F5344CB8AC3E}">
        <p14:creationId xmlns:p14="http://schemas.microsoft.com/office/powerpoint/2010/main" val="4071340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OOPS CONCEPTS</a:t>
            </a:r>
            <a:endParaRPr lang="en-IN" dirty="0"/>
          </a:p>
        </p:txBody>
      </p:sp>
      <p:sp>
        <p:nvSpPr>
          <p:cNvPr id="3" name="Content Placeholder 2"/>
          <p:cNvSpPr>
            <a:spLocks noGrp="1"/>
          </p:cNvSpPr>
          <p:nvPr>
            <p:ph idx="1"/>
          </p:nvPr>
        </p:nvSpPr>
        <p:spPr/>
        <p:txBody>
          <a:bodyPr>
            <a:normAutofit/>
          </a:bodyPr>
          <a:lstStyle/>
          <a:p>
            <a:pPr lvl="1"/>
            <a:r>
              <a:rPr lang="en-IN" sz="2000" dirty="0"/>
              <a:t>OOPs Concept</a:t>
            </a:r>
          </a:p>
          <a:p>
            <a:pPr lvl="2"/>
            <a:r>
              <a:rPr lang="en-IN" sz="2000" dirty="0"/>
              <a:t>Object</a:t>
            </a:r>
          </a:p>
          <a:p>
            <a:pPr lvl="2"/>
            <a:r>
              <a:rPr lang="en-IN" sz="2000" dirty="0"/>
              <a:t>Class</a:t>
            </a:r>
          </a:p>
          <a:p>
            <a:pPr lvl="2"/>
            <a:r>
              <a:rPr lang="en-IN" sz="2000" dirty="0"/>
              <a:t>Inheritance</a:t>
            </a:r>
          </a:p>
          <a:p>
            <a:pPr lvl="2"/>
            <a:r>
              <a:rPr lang="en-IN" sz="2000" dirty="0"/>
              <a:t>Polymorphism</a:t>
            </a:r>
          </a:p>
          <a:p>
            <a:pPr lvl="2"/>
            <a:r>
              <a:rPr lang="en-IN" sz="2000" dirty="0"/>
              <a:t>Abstraction</a:t>
            </a:r>
          </a:p>
          <a:p>
            <a:pPr lvl="2"/>
            <a:r>
              <a:rPr lang="en-IN" sz="2000" dirty="0"/>
              <a:t>Encapsulation</a:t>
            </a:r>
          </a:p>
        </p:txBody>
      </p:sp>
    </p:spTree>
    <p:extLst>
      <p:ext uri="{BB962C8B-B14F-4D97-AF65-F5344CB8AC3E}">
        <p14:creationId xmlns:p14="http://schemas.microsoft.com/office/powerpoint/2010/main" val="4104631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OBJECT,CLASS &amp; CONSTRUCTOR</a:t>
            </a:r>
            <a:endParaRPr lang="en-IN" dirty="0"/>
          </a:p>
        </p:txBody>
      </p:sp>
      <p:sp>
        <p:nvSpPr>
          <p:cNvPr id="3" name="Content Placeholder 2"/>
          <p:cNvSpPr>
            <a:spLocks noGrp="1"/>
          </p:cNvSpPr>
          <p:nvPr>
            <p:ph idx="1"/>
          </p:nvPr>
        </p:nvSpPr>
        <p:spPr/>
        <p:txBody>
          <a:bodyPr/>
          <a:lstStyle/>
          <a:p>
            <a:r>
              <a:rPr lang="en-US" dirty="0" smtClean="0"/>
              <a:t>What IS Object And Class</a:t>
            </a:r>
          </a:p>
          <a:p>
            <a:r>
              <a:rPr lang="en-US" dirty="0" smtClean="0"/>
              <a:t>Difference Between Object And Class</a:t>
            </a:r>
          </a:p>
          <a:p>
            <a:r>
              <a:rPr lang="en-US" dirty="0" smtClean="0"/>
              <a:t>How To Use Class &amp; Object?</a:t>
            </a:r>
          </a:p>
          <a:p>
            <a:r>
              <a:rPr lang="en-US" dirty="0" smtClean="0"/>
              <a:t>What Is Constructor</a:t>
            </a:r>
          </a:p>
          <a:p>
            <a:r>
              <a:rPr lang="en-US" dirty="0" smtClean="0"/>
              <a:t>Why Constructor Use In Java</a:t>
            </a:r>
          </a:p>
          <a:p>
            <a:r>
              <a:rPr lang="en-US" dirty="0" smtClean="0"/>
              <a:t>Type Of Constructor</a:t>
            </a:r>
          </a:p>
          <a:p>
            <a:r>
              <a:rPr lang="en-US" dirty="0" smtClean="0"/>
              <a:t>Constructor Overloading</a:t>
            </a:r>
          </a:p>
          <a:p>
            <a:endParaRPr lang="en-IN" dirty="0"/>
          </a:p>
        </p:txBody>
      </p:sp>
    </p:spTree>
    <p:extLst>
      <p:ext uri="{BB962C8B-B14F-4D97-AF65-F5344CB8AC3E}">
        <p14:creationId xmlns:p14="http://schemas.microsoft.com/office/powerpoint/2010/main" val="3418499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&amp; THIS KEYWORD CONCEPT</a:t>
            </a:r>
            <a:endParaRPr lang="en-IN" dirty="0"/>
          </a:p>
        </p:txBody>
      </p:sp>
      <p:sp>
        <p:nvSpPr>
          <p:cNvPr id="3" name="Content Placeholder 2"/>
          <p:cNvSpPr>
            <a:spLocks noGrp="1"/>
          </p:cNvSpPr>
          <p:nvPr>
            <p:ph idx="1"/>
          </p:nvPr>
        </p:nvSpPr>
        <p:spPr/>
        <p:txBody>
          <a:bodyPr/>
          <a:lstStyle/>
          <a:p>
            <a:r>
              <a:rPr lang="en-US" dirty="0" smtClean="0"/>
              <a:t>Static Keyword</a:t>
            </a:r>
          </a:p>
          <a:p>
            <a:r>
              <a:rPr lang="en-US" dirty="0" smtClean="0"/>
              <a:t>Use Of Static Keyword</a:t>
            </a:r>
          </a:p>
          <a:p>
            <a:r>
              <a:rPr lang="en-US" dirty="0" smtClean="0"/>
              <a:t>Static &amp; Non Static Keyword</a:t>
            </a:r>
          </a:p>
          <a:p>
            <a:r>
              <a:rPr lang="en-US" dirty="0" smtClean="0"/>
              <a:t>This Keyword</a:t>
            </a:r>
          </a:p>
          <a:p>
            <a:r>
              <a:rPr lang="en-US" dirty="0" smtClean="0"/>
              <a:t>Use Of This Keyword</a:t>
            </a:r>
          </a:p>
          <a:p>
            <a:r>
              <a:rPr lang="en-US" dirty="0" smtClean="0"/>
              <a:t>Where Use Keyword This?</a:t>
            </a:r>
          </a:p>
          <a:p>
            <a:r>
              <a:rPr lang="en-US" dirty="0" smtClean="0"/>
              <a:t>Why Use This Keyword?</a:t>
            </a:r>
            <a:endParaRPr lang="en-IN" dirty="0"/>
          </a:p>
        </p:txBody>
      </p:sp>
    </p:spTree>
    <p:extLst>
      <p:ext uri="{BB962C8B-B14F-4D97-AF65-F5344CB8AC3E}">
        <p14:creationId xmlns:p14="http://schemas.microsoft.com/office/powerpoint/2010/main" val="4213443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INHERITANCE</a:t>
            </a:r>
            <a:endParaRPr lang="en-IN" dirty="0"/>
          </a:p>
        </p:txBody>
      </p:sp>
      <p:sp>
        <p:nvSpPr>
          <p:cNvPr id="3" name="Content Placeholder 2"/>
          <p:cNvSpPr>
            <a:spLocks noGrp="1"/>
          </p:cNvSpPr>
          <p:nvPr>
            <p:ph idx="1"/>
          </p:nvPr>
        </p:nvSpPr>
        <p:spPr/>
        <p:txBody>
          <a:bodyPr/>
          <a:lstStyle/>
          <a:p>
            <a:r>
              <a:rPr lang="en-US" dirty="0" smtClean="0"/>
              <a:t>Meaning Of Inheritance</a:t>
            </a:r>
          </a:p>
          <a:p>
            <a:r>
              <a:rPr lang="en-US" dirty="0" smtClean="0"/>
              <a:t>Use Of Inheritance</a:t>
            </a:r>
          </a:p>
          <a:p>
            <a:r>
              <a:rPr lang="en-US" dirty="0" smtClean="0"/>
              <a:t>Types Of Inheritance</a:t>
            </a:r>
          </a:p>
          <a:p>
            <a:endParaRPr lang="en-IN" dirty="0"/>
          </a:p>
        </p:txBody>
      </p:sp>
    </p:spTree>
    <p:extLst>
      <p:ext uri="{BB962C8B-B14F-4D97-AF65-F5344CB8AC3E}">
        <p14:creationId xmlns:p14="http://schemas.microsoft.com/office/powerpoint/2010/main" val="21446311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smtClean="0"/>
              <a:t> POLYMORPHISM</a:t>
            </a:r>
            <a:endParaRPr lang="en-IN" sz="4400" dirty="0"/>
          </a:p>
        </p:txBody>
      </p:sp>
      <p:sp>
        <p:nvSpPr>
          <p:cNvPr id="3" name="Content Placeholder 2"/>
          <p:cNvSpPr>
            <a:spLocks noGrp="1"/>
          </p:cNvSpPr>
          <p:nvPr>
            <p:ph idx="1"/>
          </p:nvPr>
        </p:nvSpPr>
        <p:spPr/>
        <p:txBody>
          <a:bodyPr/>
          <a:lstStyle/>
          <a:p>
            <a:r>
              <a:rPr lang="en-US" sz="2400" dirty="0" smtClean="0"/>
              <a:t>Introduction To Polymorphism</a:t>
            </a:r>
          </a:p>
          <a:p>
            <a:r>
              <a:rPr lang="en-US" sz="2400" dirty="0" smtClean="0"/>
              <a:t>Types Of Polymorphism:-Runtime and Compile Time</a:t>
            </a:r>
          </a:p>
          <a:p>
            <a:r>
              <a:rPr lang="en-US" sz="2400" dirty="0" smtClean="0"/>
              <a:t>Polymorphism In OOPS</a:t>
            </a:r>
          </a:p>
          <a:p>
            <a:r>
              <a:rPr lang="en-US" sz="2400" dirty="0" smtClean="0"/>
              <a:t>Use Of Polymorphism</a:t>
            </a:r>
          </a:p>
          <a:p>
            <a:r>
              <a:rPr lang="en-US" sz="2400" dirty="0" smtClean="0"/>
              <a:t>Example Of Polymorphism:-Method Overloading &amp; Method Overriding.</a:t>
            </a:r>
            <a:endParaRPr lang="en-IN" sz="2400" dirty="0"/>
          </a:p>
        </p:txBody>
      </p:sp>
    </p:spTree>
    <p:extLst>
      <p:ext uri="{BB962C8B-B14F-4D97-AF65-F5344CB8AC3E}">
        <p14:creationId xmlns:p14="http://schemas.microsoft.com/office/powerpoint/2010/main" val="1861166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ABSTRACTION &amp; INTERFACE</a:t>
            </a:r>
            <a:endParaRPr lang="en-IN" dirty="0"/>
          </a:p>
        </p:txBody>
      </p:sp>
      <p:sp>
        <p:nvSpPr>
          <p:cNvPr id="3" name="Content Placeholder 2"/>
          <p:cNvSpPr>
            <a:spLocks noGrp="1"/>
          </p:cNvSpPr>
          <p:nvPr>
            <p:ph idx="1"/>
          </p:nvPr>
        </p:nvSpPr>
        <p:spPr/>
        <p:txBody>
          <a:bodyPr/>
          <a:lstStyle/>
          <a:p>
            <a:r>
              <a:rPr lang="en-US" dirty="0" smtClean="0"/>
              <a:t>What Is Abstraction</a:t>
            </a:r>
          </a:p>
          <a:p>
            <a:r>
              <a:rPr lang="en-US" dirty="0" smtClean="0"/>
              <a:t>Abstraction In OOPS Concept</a:t>
            </a:r>
          </a:p>
          <a:p>
            <a:r>
              <a:rPr lang="en-US" dirty="0" smtClean="0"/>
              <a:t>Abstract Class</a:t>
            </a:r>
          </a:p>
          <a:p>
            <a:r>
              <a:rPr lang="en-US" dirty="0" smtClean="0"/>
              <a:t>Abstract Methods</a:t>
            </a:r>
          </a:p>
          <a:p>
            <a:r>
              <a:rPr lang="en-US" dirty="0" smtClean="0"/>
              <a:t>Interface</a:t>
            </a:r>
          </a:p>
          <a:p>
            <a:r>
              <a:rPr lang="en-US" dirty="0" smtClean="0"/>
              <a:t>Use Of Interface</a:t>
            </a:r>
          </a:p>
          <a:p>
            <a:endParaRPr lang="en-US" dirty="0" smtClean="0"/>
          </a:p>
          <a:p>
            <a:endParaRPr lang="en-IN" dirty="0"/>
          </a:p>
        </p:txBody>
      </p:sp>
    </p:spTree>
    <p:extLst>
      <p:ext uri="{BB962C8B-B14F-4D97-AF65-F5344CB8AC3E}">
        <p14:creationId xmlns:p14="http://schemas.microsoft.com/office/powerpoint/2010/main" val="1578888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ENCAPSULATION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2400" dirty="0" smtClean="0"/>
              <a:t> Encapsulation</a:t>
            </a:r>
          </a:p>
          <a:p>
            <a:pPr>
              <a:buFont typeface="Wingdings" panose="05000000000000000000" pitchFamily="2" charset="2"/>
              <a:buChar char="Ø"/>
            </a:pPr>
            <a:r>
              <a:rPr lang="en-US" sz="2400" dirty="0" smtClean="0"/>
              <a:t>Use Of Encapsulation</a:t>
            </a:r>
          </a:p>
          <a:p>
            <a:pPr>
              <a:buFont typeface="Wingdings" panose="05000000000000000000" pitchFamily="2" charset="2"/>
              <a:buChar char="Ø"/>
            </a:pPr>
            <a:r>
              <a:rPr lang="en-US" sz="2400" dirty="0" smtClean="0"/>
              <a:t>Encapsulation In OOPS Concept </a:t>
            </a:r>
          </a:p>
          <a:p>
            <a:pPr marL="0" indent="0">
              <a:buNone/>
            </a:pPr>
            <a:r>
              <a:rPr lang="en-US" sz="2400" dirty="0" smtClean="0"/>
              <a:t> </a:t>
            </a:r>
          </a:p>
          <a:p>
            <a:endParaRPr lang="en-IN" dirty="0"/>
          </a:p>
        </p:txBody>
      </p:sp>
    </p:spTree>
    <p:extLst>
      <p:ext uri="{BB962C8B-B14F-4D97-AF65-F5344CB8AC3E}">
        <p14:creationId xmlns:p14="http://schemas.microsoft.com/office/powerpoint/2010/main" val="3818603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PACKAGE &amp; ENHANCED FOR LOOP</a:t>
            </a:r>
            <a:endParaRPr lang="en-IN" dirty="0"/>
          </a:p>
        </p:txBody>
      </p:sp>
      <p:sp>
        <p:nvSpPr>
          <p:cNvPr id="3" name="Content Placeholder 2"/>
          <p:cNvSpPr>
            <a:spLocks noGrp="1"/>
          </p:cNvSpPr>
          <p:nvPr>
            <p:ph idx="1"/>
          </p:nvPr>
        </p:nvSpPr>
        <p:spPr/>
        <p:txBody>
          <a:bodyPr/>
          <a:lstStyle/>
          <a:p>
            <a:r>
              <a:rPr lang="en-US" sz="2400" dirty="0" smtClean="0"/>
              <a:t>Introduction Of Package</a:t>
            </a:r>
          </a:p>
          <a:p>
            <a:r>
              <a:rPr lang="en-US" sz="2400" dirty="0" smtClean="0"/>
              <a:t>Use Of Package</a:t>
            </a:r>
          </a:p>
          <a:p>
            <a:r>
              <a:rPr lang="en-US" sz="2400" dirty="0" smtClean="0"/>
              <a:t>Enhanced For Loop</a:t>
            </a:r>
          </a:p>
          <a:p>
            <a:r>
              <a:rPr lang="en-US" sz="2400" dirty="0" smtClean="0"/>
              <a:t>Use Of Enhanced For Loop</a:t>
            </a:r>
          </a:p>
          <a:p>
            <a:r>
              <a:rPr lang="en-US" sz="2400" dirty="0" smtClean="0"/>
              <a:t>Example Of Enhanced For Loop</a:t>
            </a:r>
          </a:p>
          <a:p>
            <a:endParaRPr lang="en-IN" sz="2400" dirty="0"/>
          </a:p>
        </p:txBody>
      </p:sp>
    </p:spTree>
    <p:extLst>
      <p:ext uri="{BB962C8B-B14F-4D97-AF65-F5344CB8AC3E}">
        <p14:creationId xmlns:p14="http://schemas.microsoft.com/office/powerpoint/2010/main" val="3754901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AUTOBOXING &amp; WRAPPER CLASSES</a:t>
            </a:r>
            <a:endParaRPr lang="en-IN" dirty="0"/>
          </a:p>
        </p:txBody>
      </p:sp>
      <p:sp>
        <p:nvSpPr>
          <p:cNvPr id="3" name="Content Placeholder 2"/>
          <p:cNvSpPr>
            <a:spLocks noGrp="1"/>
          </p:cNvSpPr>
          <p:nvPr>
            <p:ph idx="1"/>
          </p:nvPr>
        </p:nvSpPr>
        <p:spPr/>
        <p:txBody>
          <a:bodyPr/>
          <a:lstStyle/>
          <a:p>
            <a:r>
              <a:rPr lang="en-US" sz="2400" dirty="0" err="1" smtClean="0"/>
              <a:t>Autoboxing</a:t>
            </a:r>
            <a:r>
              <a:rPr lang="en-US" sz="2400" dirty="0" smtClean="0"/>
              <a:t> Or Boxing</a:t>
            </a:r>
            <a:endParaRPr lang="en-IN" sz="2400" dirty="0"/>
          </a:p>
          <a:p>
            <a:r>
              <a:rPr lang="en-US" sz="2400" dirty="0" smtClean="0"/>
              <a:t>Unboxing</a:t>
            </a:r>
          </a:p>
          <a:p>
            <a:r>
              <a:rPr lang="en-US" sz="2400" dirty="0" smtClean="0"/>
              <a:t>Primitive Type &amp; Object Type</a:t>
            </a:r>
            <a:endParaRPr lang="en-IN" sz="2400" dirty="0"/>
          </a:p>
          <a:p>
            <a:r>
              <a:rPr lang="en-US" sz="2400" dirty="0" smtClean="0"/>
              <a:t>Wrapper Classes</a:t>
            </a:r>
          </a:p>
          <a:p>
            <a:r>
              <a:rPr lang="en-US" sz="2400" dirty="0" smtClean="0"/>
              <a:t>Primitive Type &amp; Predefined Type</a:t>
            </a:r>
            <a:endParaRPr lang="en-IN" sz="2400" dirty="0"/>
          </a:p>
        </p:txBody>
      </p:sp>
    </p:spTree>
    <p:extLst>
      <p:ext uri="{BB962C8B-B14F-4D97-AF65-F5344CB8AC3E}">
        <p14:creationId xmlns:p14="http://schemas.microsoft.com/office/powerpoint/2010/main" val="28711295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STRING CLASS</a:t>
            </a:r>
            <a:endParaRPr lang="en-IN" dirty="0"/>
          </a:p>
        </p:txBody>
      </p:sp>
      <p:sp>
        <p:nvSpPr>
          <p:cNvPr id="3" name="Content Placeholder 2"/>
          <p:cNvSpPr>
            <a:spLocks noGrp="1"/>
          </p:cNvSpPr>
          <p:nvPr>
            <p:ph idx="1"/>
          </p:nvPr>
        </p:nvSpPr>
        <p:spPr/>
        <p:txBody>
          <a:bodyPr/>
          <a:lstStyle/>
          <a:p>
            <a:r>
              <a:rPr lang="en-US" sz="2400" dirty="0" smtClean="0"/>
              <a:t>String Class</a:t>
            </a:r>
          </a:p>
          <a:p>
            <a:r>
              <a:rPr lang="en-US" sz="2400" dirty="0" smtClean="0"/>
              <a:t>Use Of String Class</a:t>
            </a:r>
          </a:p>
          <a:p>
            <a:r>
              <a:rPr lang="en-US" sz="2400" dirty="0" smtClean="0"/>
              <a:t>String Methods</a:t>
            </a:r>
          </a:p>
          <a:p>
            <a:r>
              <a:rPr lang="en-US" sz="2400" dirty="0" smtClean="0"/>
              <a:t>String Builder</a:t>
            </a:r>
          </a:p>
          <a:p>
            <a:r>
              <a:rPr lang="en-US" sz="2400" dirty="0" smtClean="0"/>
              <a:t>String Buffer</a:t>
            </a:r>
          </a:p>
          <a:p>
            <a:r>
              <a:rPr lang="en-US" sz="2400" dirty="0" smtClean="0"/>
              <a:t>Difference Between String Buffer &amp; String Builder</a:t>
            </a:r>
            <a:endParaRPr lang="en-IN" sz="2400" dirty="0"/>
          </a:p>
        </p:txBody>
      </p:sp>
    </p:spTree>
    <p:extLst>
      <p:ext uri="{BB962C8B-B14F-4D97-AF65-F5344CB8AC3E}">
        <p14:creationId xmlns:p14="http://schemas.microsoft.com/office/powerpoint/2010/main" val="2597427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EXCEPTION HANDLING</a:t>
            </a:r>
            <a:endParaRPr lang="en-IN" dirty="0"/>
          </a:p>
        </p:txBody>
      </p:sp>
      <p:sp>
        <p:nvSpPr>
          <p:cNvPr id="3" name="Content Placeholder 2"/>
          <p:cNvSpPr>
            <a:spLocks noGrp="1"/>
          </p:cNvSpPr>
          <p:nvPr>
            <p:ph idx="1"/>
          </p:nvPr>
        </p:nvSpPr>
        <p:spPr/>
        <p:txBody>
          <a:bodyPr/>
          <a:lstStyle/>
          <a:p>
            <a:r>
              <a:rPr lang="en-US" sz="2400" dirty="0" smtClean="0"/>
              <a:t>What Is Exception</a:t>
            </a:r>
          </a:p>
          <a:p>
            <a:r>
              <a:rPr lang="en-US" sz="2400" dirty="0" smtClean="0"/>
              <a:t>Type Of Exception:</a:t>
            </a:r>
          </a:p>
          <a:p>
            <a:pPr marL="0" indent="0">
              <a:buNone/>
            </a:pPr>
            <a:r>
              <a:rPr lang="en-US" sz="2400" dirty="0" smtClean="0"/>
              <a:t>1] Check Exception 2] Uncheck Exception</a:t>
            </a:r>
          </a:p>
          <a:p>
            <a:pPr>
              <a:buFont typeface="Wingdings" panose="05000000000000000000" pitchFamily="2" charset="2"/>
              <a:buChar char="Ø"/>
            </a:pPr>
            <a:r>
              <a:rPr lang="en-US" sz="2400" dirty="0" smtClean="0"/>
              <a:t>Example Of Unchanged Exception</a:t>
            </a:r>
          </a:p>
          <a:p>
            <a:pPr>
              <a:buFont typeface="Wingdings" panose="05000000000000000000" pitchFamily="2" charset="2"/>
              <a:buChar char="Ø"/>
            </a:pPr>
            <a:r>
              <a:rPr lang="en-US" sz="2400" dirty="0" smtClean="0"/>
              <a:t>Try Block ,Catch Block, Throw Block, Throws Keyword, Finally Block</a:t>
            </a:r>
          </a:p>
          <a:p>
            <a:pPr marL="0" indent="0">
              <a:buNone/>
            </a:pPr>
            <a:endParaRPr lang="en-IN" sz="2400" dirty="0"/>
          </a:p>
        </p:txBody>
      </p:sp>
    </p:spTree>
    <p:extLst>
      <p:ext uri="{BB962C8B-B14F-4D97-AF65-F5344CB8AC3E}">
        <p14:creationId xmlns:p14="http://schemas.microsoft.com/office/powerpoint/2010/main" val="2087836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MULTITHREADING</a:t>
            </a:r>
            <a:endParaRPr lang="en-IN" dirty="0"/>
          </a:p>
        </p:txBody>
      </p:sp>
      <p:sp>
        <p:nvSpPr>
          <p:cNvPr id="3" name="Content Placeholder 2"/>
          <p:cNvSpPr>
            <a:spLocks noGrp="1"/>
          </p:cNvSpPr>
          <p:nvPr>
            <p:ph idx="1"/>
          </p:nvPr>
        </p:nvSpPr>
        <p:spPr>
          <a:xfrm>
            <a:off x="541532" y="2079108"/>
            <a:ext cx="8596668" cy="3880773"/>
          </a:xfrm>
        </p:spPr>
        <p:txBody>
          <a:bodyPr>
            <a:normAutofit lnSpcReduction="10000"/>
          </a:bodyPr>
          <a:lstStyle/>
          <a:p>
            <a:r>
              <a:rPr lang="en-US" sz="2400" dirty="0" smtClean="0"/>
              <a:t> Multithreading </a:t>
            </a:r>
          </a:p>
          <a:p>
            <a:r>
              <a:rPr lang="en-US" sz="2400" dirty="0" smtClean="0"/>
              <a:t>Process ,Thread</a:t>
            </a:r>
          </a:p>
          <a:p>
            <a:r>
              <a:rPr lang="en-US" sz="2400" dirty="0" smtClean="0"/>
              <a:t>Life Cycle Of Thread</a:t>
            </a:r>
          </a:p>
          <a:p>
            <a:r>
              <a:rPr lang="en-US" sz="2400" dirty="0" smtClean="0"/>
              <a:t>Multithreaded Applications: Runnable Thread</a:t>
            </a:r>
          </a:p>
          <a:p>
            <a:r>
              <a:rPr lang="en-US" sz="2400" dirty="0" smtClean="0"/>
              <a:t>Single Thread Application</a:t>
            </a:r>
          </a:p>
          <a:p>
            <a:r>
              <a:rPr lang="en-US" sz="2400" dirty="0" smtClean="0"/>
              <a:t>Priority Of Thread</a:t>
            </a:r>
          </a:p>
          <a:p>
            <a:r>
              <a:rPr lang="en-US" sz="2400" dirty="0" smtClean="0"/>
              <a:t>Synchronization</a:t>
            </a:r>
          </a:p>
          <a:p>
            <a:r>
              <a:rPr lang="en-US" sz="2400" dirty="0" smtClean="0"/>
              <a:t>Inter Thread Communication:- Wait , Notify, Notify All</a:t>
            </a:r>
          </a:p>
          <a:p>
            <a:endParaRPr lang="en-US" sz="2400" dirty="0" smtClean="0"/>
          </a:p>
          <a:p>
            <a:endParaRPr lang="en-IN" sz="2400" dirty="0"/>
          </a:p>
        </p:txBody>
      </p:sp>
    </p:spTree>
    <p:extLst>
      <p:ext uri="{BB962C8B-B14F-4D97-AF65-F5344CB8AC3E}">
        <p14:creationId xmlns:p14="http://schemas.microsoft.com/office/powerpoint/2010/main" val="2057127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COLLECTION FRAMEWORKS</a:t>
            </a:r>
            <a:endParaRPr lang="en-IN" dirty="0"/>
          </a:p>
        </p:txBody>
      </p:sp>
      <p:sp>
        <p:nvSpPr>
          <p:cNvPr id="3" name="Content Placeholder 2"/>
          <p:cNvSpPr>
            <a:spLocks noGrp="1"/>
          </p:cNvSpPr>
          <p:nvPr>
            <p:ph idx="1"/>
          </p:nvPr>
        </p:nvSpPr>
        <p:spPr/>
        <p:txBody>
          <a:bodyPr>
            <a:normAutofit/>
          </a:bodyPr>
          <a:lstStyle/>
          <a:p>
            <a:r>
              <a:rPr lang="en-US" sz="2400" dirty="0" smtClean="0"/>
              <a:t>Collection Framework</a:t>
            </a:r>
            <a:endParaRPr lang="en-IN" sz="2400" dirty="0"/>
          </a:p>
          <a:p>
            <a:r>
              <a:rPr lang="en-US" sz="2400" dirty="0" smtClean="0"/>
              <a:t>Advantages Of Collection Interfaces</a:t>
            </a:r>
          </a:p>
          <a:p>
            <a:r>
              <a:rPr lang="en-US" sz="2400" dirty="0" err="1" smtClean="0"/>
              <a:t>Hierachy</a:t>
            </a:r>
            <a:r>
              <a:rPr lang="en-US" sz="2400" dirty="0" smtClean="0"/>
              <a:t> Of Collection Framework</a:t>
            </a:r>
          </a:p>
          <a:p>
            <a:r>
              <a:rPr lang="en-US" sz="2400" dirty="0" smtClean="0"/>
              <a:t>Methods Of Collection Frameworks</a:t>
            </a:r>
            <a:endParaRPr lang="en-IN" sz="2400" dirty="0"/>
          </a:p>
        </p:txBody>
      </p:sp>
    </p:spTree>
    <p:extLst>
      <p:ext uri="{BB962C8B-B14F-4D97-AF65-F5344CB8AC3E}">
        <p14:creationId xmlns:p14="http://schemas.microsoft.com/office/powerpoint/2010/main" val="8271081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SET INTERFACE &amp; LIST INTERFACE</a:t>
            </a:r>
            <a:endParaRPr lang="en-IN" dirty="0"/>
          </a:p>
        </p:txBody>
      </p:sp>
      <p:sp>
        <p:nvSpPr>
          <p:cNvPr id="3" name="Content Placeholder 2"/>
          <p:cNvSpPr>
            <a:spLocks noGrp="1"/>
          </p:cNvSpPr>
          <p:nvPr>
            <p:ph idx="1"/>
          </p:nvPr>
        </p:nvSpPr>
        <p:spPr/>
        <p:txBody>
          <a:bodyPr/>
          <a:lstStyle/>
          <a:p>
            <a:r>
              <a:rPr lang="en-US" sz="2000" dirty="0" smtClean="0"/>
              <a:t>Types Of Collection Framework</a:t>
            </a:r>
          </a:p>
          <a:p>
            <a:r>
              <a:rPr lang="en-US" sz="2000" dirty="0" smtClean="0"/>
              <a:t>List Interface</a:t>
            </a:r>
          </a:p>
          <a:p>
            <a:r>
              <a:rPr lang="en-US" sz="2000" dirty="0" smtClean="0"/>
              <a:t>Method Of List Interface</a:t>
            </a:r>
          </a:p>
          <a:p>
            <a:r>
              <a:rPr lang="en-US" sz="2000" dirty="0" smtClean="0"/>
              <a:t>Types Of List Interface</a:t>
            </a:r>
          </a:p>
          <a:p>
            <a:pPr marL="0" indent="0">
              <a:buNone/>
            </a:pPr>
            <a:r>
              <a:rPr lang="en-US" sz="2000" dirty="0" smtClean="0"/>
              <a:t>   1-Array List Class</a:t>
            </a:r>
          </a:p>
          <a:p>
            <a:pPr marL="0" indent="0">
              <a:buNone/>
            </a:pPr>
            <a:r>
              <a:rPr lang="en-US" sz="2000" dirty="0" smtClean="0"/>
              <a:t>   2-Link List Class</a:t>
            </a:r>
          </a:p>
          <a:p>
            <a:r>
              <a:rPr lang="en-US" sz="2000" dirty="0" smtClean="0"/>
              <a:t>Set Interface</a:t>
            </a:r>
          </a:p>
          <a:p>
            <a:r>
              <a:rPr lang="en-US" sz="2000" dirty="0" smtClean="0"/>
              <a:t>Types Of Set Interface</a:t>
            </a:r>
          </a:p>
          <a:p>
            <a:pPr marL="0" indent="0">
              <a:buNone/>
            </a:pPr>
            <a:r>
              <a:rPr lang="en-US" sz="2000" dirty="0"/>
              <a:t> </a:t>
            </a:r>
            <a:r>
              <a:rPr lang="en-US" sz="2000" dirty="0" smtClean="0"/>
              <a:t>   1-Treeset Class  2-HashSet Class 3-Linked </a:t>
            </a:r>
            <a:r>
              <a:rPr lang="en-US" sz="2000" dirty="0" err="1" smtClean="0"/>
              <a:t>HashSet</a:t>
            </a:r>
            <a:endParaRPr lang="en-IN" sz="2000" dirty="0"/>
          </a:p>
        </p:txBody>
      </p:sp>
    </p:spTree>
    <p:extLst>
      <p:ext uri="{BB962C8B-B14F-4D97-AF65-F5344CB8AC3E}">
        <p14:creationId xmlns:p14="http://schemas.microsoft.com/office/powerpoint/2010/main" val="2875157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MAP INTERFACE</a:t>
            </a:r>
            <a:endParaRPr lang="en-IN" dirty="0"/>
          </a:p>
        </p:txBody>
      </p:sp>
      <p:sp>
        <p:nvSpPr>
          <p:cNvPr id="3" name="Content Placeholder 2"/>
          <p:cNvSpPr>
            <a:spLocks noGrp="1"/>
          </p:cNvSpPr>
          <p:nvPr>
            <p:ph idx="1"/>
          </p:nvPr>
        </p:nvSpPr>
        <p:spPr>
          <a:xfrm>
            <a:off x="677334" y="2160589"/>
            <a:ext cx="8596668" cy="4249264"/>
          </a:xfrm>
        </p:spPr>
        <p:txBody>
          <a:bodyPr>
            <a:normAutofit fontScale="92500"/>
          </a:bodyPr>
          <a:lstStyle/>
          <a:p>
            <a:r>
              <a:rPr lang="en-US" sz="2400" dirty="0" smtClean="0"/>
              <a:t>Map Interface</a:t>
            </a:r>
            <a:endParaRPr lang="en-IN" sz="2400" dirty="0"/>
          </a:p>
          <a:p>
            <a:r>
              <a:rPr lang="en-US" sz="2400" dirty="0" smtClean="0"/>
              <a:t>Types Of Map Interface</a:t>
            </a:r>
          </a:p>
          <a:p>
            <a:pPr marL="0" indent="0">
              <a:buNone/>
            </a:pPr>
            <a:r>
              <a:rPr lang="en-US" sz="2400" dirty="0" smtClean="0"/>
              <a:t>  1-HashMap Class</a:t>
            </a:r>
          </a:p>
          <a:p>
            <a:pPr marL="0" indent="0">
              <a:buNone/>
            </a:pPr>
            <a:r>
              <a:rPr lang="en-US" sz="2400" dirty="0"/>
              <a:t> </a:t>
            </a:r>
            <a:r>
              <a:rPr lang="en-US" sz="2400" dirty="0" smtClean="0"/>
              <a:t> 2-HashTable class</a:t>
            </a:r>
          </a:p>
          <a:p>
            <a:r>
              <a:rPr lang="en-US" sz="2400" dirty="0" smtClean="0"/>
              <a:t>Methods Of Map Interface</a:t>
            </a:r>
          </a:p>
          <a:p>
            <a:r>
              <a:rPr lang="en-US" sz="2400" dirty="0" smtClean="0"/>
              <a:t>Sorting Of Integer Object</a:t>
            </a:r>
          </a:p>
          <a:p>
            <a:r>
              <a:rPr lang="en-US" sz="2400" dirty="0" smtClean="0"/>
              <a:t>Diff Between Comparable Interface &amp; Comparator Interface</a:t>
            </a:r>
          </a:p>
          <a:p>
            <a:r>
              <a:rPr lang="en-US" sz="2400" dirty="0" smtClean="0"/>
              <a:t>Difference Between Array List &amp; Linked List</a:t>
            </a:r>
          </a:p>
          <a:p>
            <a:r>
              <a:rPr lang="en-US" sz="2400" dirty="0" smtClean="0"/>
              <a:t>Difference Between Set &amp; List</a:t>
            </a:r>
          </a:p>
          <a:p>
            <a:endParaRPr lang="en-IN" sz="2400" dirty="0"/>
          </a:p>
        </p:txBody>
      </p:sp>
    </p:spTree>
    <p:extLst>
      <p:ext uri="{BB962C8B-B14F-4D97-AF65-F5344CB8AC3E}">
        <p14:creationId xmlns:p14="http://schemas.microsoft.com/office/powerpoint/2010/main" val="31105135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QUEUE INTERFACE</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262652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ASSIGNMENTS</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874981246"/>
      </p:ext>
    </p:extLst>
  </p:cSld>
  <p:clrMapOvr>
    <a:masterClrMapping/>
  </p:clrMapOvr>
</p:sld>
</file>

<file path=ppt/theme/theme1.xml><?xml version="1.0" encoding="utf-8"?>
<a:theme xmlns:a="http://schemas.openxmlformats.org/drawingml/2006/main" name="Facet">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9438</TotalTime>
  <Words>2591</Words>
  <Application>Microsoft Office PowerPoint</Application>
  <PresentationFormat>Custom</PresentationFormat>
  <Paragraphs>374</Paragraphs>
  <Slides>48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0" baseType="lpstr">
      <vt:lpstr>Facet</vt:lpstr>
      <vt:lpstr>Worksheet</vt:lpstr>
      <vt:lpstr>BACK END DEVELOPMENT</vt:lpstr>
      <vt:lpstr>HISTORY OF JAVA</vt:lpstr>
      <vt:lpstr>What is BACK END DEVELOPMENT?</vt:lpstr>
      <vt:lpstr>Why JAVA?</vt:lpstr>
      <vt:lpstr>JAVA IS OOP LANGUAGE</vt:lpstr>
      <vt:lpstr>Where is java used?</vt:lpstr>
      <vt:lpstr>Features of java</vt:lpstr>
      <vt:lpstr>Memory expansions</vt:lpstr>
      <vt:lpstr>Why is Java Called Object Oriented? </vt:lpstr>
      <vt:lpstr>Platform Independent</vt:lpstr>
      <vt:lpstr>INSTALLATION</vt:lpstr>
      <vt:lpstr>Steps to Write a Program In JAVA </vt:lpstr>
      <vt:lpstr>PARAMETERS IN JAVA</vt:lpstr>
      <vt:lpstr>PowerPoint Presentation</vt:lpstr>
      <vt:lpstr>Variables in JAVA</vt:lpstr>
      <vt:lpstr>PowerPoint Presentation</vt:lpstr>
      <vt:lpstr>TYPES OF OPERATORS</vt:lpstr>
      <vt:lpstr>Statements &amp; Loops of JAVA</vt:lpstr>
      <vt:lpstr>Types Of Variables</vt:lpstr>
      <vt:lpstr>           What is  mean by class and object ?</vt:lpstr>
      <vt:lpstr>Constructor</vt:lpstr>
      <vt:lpstr>           Types Of Constructor</vt:lpstr>
      <vt:lpstr>ASSIGNMENTS</vt:lpstr>
      <vt:lpstr>Patterns</vt:lpstr>
      <vt:lpstr>               SCANNER</vt:lpstr>
      <vt:lpstr>Array Of Java</vt:lpstr>
      <vt:lpstr>Continue…..</vt:lpstr>
      <vt:lpstr>Array Object Of Java</vt:lpstr>
      <vt:lpstr>Digram Of Array Of Objects</vt:lpstr>
      <vt:lpstr>ACCESS MODIFIER &amp; SPECIFIERS</vt:lpstr>
      <vt:lpstr>JAVA ARRAY</vt:lpstr>
      <vt:lpstr>         OOPS CONCEPTS</vt:lpstr>
      <vt:lpstr>OBJECT,CLASS &amp; CONSTRUCTOR</vt:lpstr>
      <vt:lpstr>STATIC &amp; THIS KEYWORD CONCEPT</vt:lpstr>
      <vt:lpstr>INHERITANCE</vt:lpstr>
      <vt:lpstr> POLYMORPHISM</vt:lpstr>
      <vt:lpstr>ABSTRACTION &amp; INTERFACE</vt:lpstr>
      <vt:lpstr>ENCAPSULATION</vt:lpstr>
      <vt:lpstr>PACKAGE &amp; ENHANCED FOR LOOP</vt:lpstr>
      <vt:lpstr>AUTOBOXING &amp; WRAPPER CLASSES</vt:lpstr>
      <vt:lpstr>STRING CLASS</vt:lpstr>
      <vt:lpstr>EXCEPTION HANDLING</vt:lpstr>
      <vt:lpstr>MULTITHREADING</vt:lpstr>
      <vt:lpstr>COLLECTION FRAMEWORKS</vt:lpstr>
      <vt:lpstr>SET INTERFACE &amp; LIST INTERFACE</vt:lpstr>
      <vt:lpstr> MAP INTERFACE</vt:lpstr>
      <vt:lpstr>QUEUE INTERFACE</vt:lpstr>
      <vt:lpstr>ASSIGNMENTS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 END DEVELOPMENT</dc:title>
  <dc:creator>Akanksha</dc:creator>
  <cp:lastModifiedBy>DELL</cp:lastModifiedBy>
  <cp:revision>172</cp:revision>
  <dcterms:created xsi:type="dcterms:W3CDTF">2022-12-23T07:05:16Z</dcterms:created>
  <dcterms:modified xsi:type="dcterms:W3CDTF">2024-11-05T04:32:25Z</dcterms:modified>
</cp:coreProperties>
</file>